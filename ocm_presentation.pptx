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88952" cy="5486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DD"/>
                </a:solidFill>
              </a:rPr>
              <a:t>JAIST — Taniike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Integrating OCM Literature Data
into Lab-Scale ML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46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BBEE"/>
                </a:solidFill>
              </a:rPr>
              <a:t>A Walkthrough of Five Transfer-Learning Approaches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977639"/>
            <a:ext cx="3959352" cy="36576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6052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DDFF"/>
                </a:solidFill>
              </a:rPr>
              <a:t>Partha Nupam Nagar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99BB"/>
                </a:solidFill>
              </a:rPr>
              <a:t>June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The Problem — Two Datasets, Three Systematic Differences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2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5486400" cy="2377440"/>
          </a:xfrm>
          <a:prstGeom prst="rect">
            <a:avLst/>
          </a:prstGeom>
          <a:solidFill>
            <a:srgbClr val="E8F4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54864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247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Our Lab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544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5544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89,074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0195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1901952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9424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Preparation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249424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Impregnation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5968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Mean Y(C2)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96896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5.25%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94436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294436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Fixed, one lab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1097280"/>
            <a:ext cx="5486400" cy="2377440"/>
          </a:xfrm>
          <a:prstGeom prst="rect">
            <a:avLst/>
          </a:prstGeom>
          <a:solidFill>
            <a:srgbClr val="FFF5E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1097280"/>
            <a:ext cx="54864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1247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Published Literature (≤2019)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5544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Samples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15544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3,852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90195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Year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1901952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1982 – 2019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249424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Preparation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249424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15+ methods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5968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Mean Y(C2)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2596896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8.67%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94436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Conditions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294436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40 years of diverse labs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3611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0F1E42"/>
                </a:solidFill>
              </a:rPr>
              <a:t>Can we use literature to improve our model — without hurting it?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114800"/>
            <a:ext cx="2468880" cy="384048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413308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1. Label shift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4151376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Literature mean is 3.42 pp higher (t = −32.2, p &lt; 10⁻²⁰⁰) — systematic offset from publication bias and optimised conditions (Fanelli, 2012).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681728"/>
            <a:ext cx="246888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470001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2. Covariate shift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4718304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78.5% of literature samples describe chemistry our lab has never tested (Pan &amp; Yang, 2010, IEEE TKDE).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248656"/>
            <a:ext cx="246888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526694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3. Publication bias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5285232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Literature is skewed, not just shifted — failed experiments are rarely reported, over-weighting high yields.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5870448"/>
            <a:ext cx="11430000" cy="621792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5943600"/>
            <a:ext cx="112105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Why ML? The catalyst search space (65 elements × varying loadings × temperature) is too large to screen physically. A surrogate model guides experiments toward high-yield compositions (Lookman et al., 2019, npj Comput. Mater.).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Visualising the Gap — Label Shift, Covariate Shift, Chemistry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3 / 12</a:t>
            </a:r>
          </a:p>
        </p:txBody>
      </p:sp>
      <p:pic>
        <p:nvPicPr>
          <p:cNvPr id="7" name="Picture 6" descr="fig_walkthrough_label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589520" cy="2236570"/>
          </a:xfrm>
          <a:prstGeom prst="rect">
            <a:avLst/>
          </a:prstGeom>
        </p:spPr>
      </p:pic>
      <p:pic>
        <p:nvPicPr>
          <p:cNvPr id="8" name="Picture 7" descr="fig_element_u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069080"/>
            <a:ext cx="7589520" cy="265284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138160" y="1005840"/>
            <a:ext cx="3749039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033271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Top: label &amp; covariate shift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1463040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Red band = 3.42 pp mean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1847088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Orange tail = publication-bias skew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231136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PCA: orange spreads outside blue cluster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4069080"/>
            <a:ext cx="3749039" cy="3657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4096512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Bottom: which elements differ?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4526280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Different active phases / promoters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4910328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Concrete chemistry, not abstract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5294376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Justifies selective filtering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5760720"/>
            <a:ext cx="3749039" cy="64008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5833872"/>
            <a:ext cx="35295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3A00"/>
                </a:solidFill>
              </a:rPr>
              <a:t>These three figures jointly forecast that naive concatenation will harm the model — confirmed on slide 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How We Measure Success — Asymmetric 5-Fold CV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4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640080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24712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validation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Our 89,074 samples split into 5 folds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92024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Training fold = 4/5 of our data + any literature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8600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Validation fold = 1/5 of our data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6517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Literature never appears in 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337560"/>
            <a:ext cx="64008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364992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asymmetric?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7947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The question: how well does the model predict OUR experiments?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16052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Mixing literature into validation would dilute the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5262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Same CV harness used for every method — only training data changes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097280"/>
            <a:ext cx="4846320" cy="128016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</a:rPr>
              <a:t>Metric: RMSE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160020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in units of percentage points of C₂ yield.
An RMSE of 2.1 means typical error ≈ 2 pp.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606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5-fold split (our data, n=89,074)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1
train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2
train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0" y="3063240"/>
            <a:ext cx="914400" cy="777240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3
VAL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2124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2124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4
train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8136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8136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5
train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023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0596E"/>
                </a:solidFill>
              </a:rPr>
              <a:t>+ literature (training only, never validation)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40880" y="4572000"/>
            <a:ext cx="4846320" cy="73152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50608" y="4645152"/>
            <a:ext cx="46268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0596E"/>
                </a:solidFill>
              </a:rPr>
              <a:t>Repeat 5 times, rotating which fold is the validation set. Report mean RMSE ± std.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Baseline + Why Naive Merging Fails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5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Step 1 — establish baseline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45920"/>
            <a:ext cx="56692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733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67335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CV RMSE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29968"/>
            <a:ext cx="5669280" cy="45720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7568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Baseline (our data only)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07568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606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Number every method must beat.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46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Step 2 — try the obvious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56692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7307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73075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CV RMSE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087368"/>
            <a:ext cx="5669280" cy="45720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133087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133087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44568"/>
            <a:ext cx="5669280" cy="457200"/>
          </a:xfrm>
          <a:prstGeom prst="rect">
            <a:avLst/>
          </a:prstGeom>
          <a:solidFill>
            <a:srgbClr val="FFEBEB"/>
          </a:solidFill>
          <a:ln w="9525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59028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Naive merge (3,852 lit rows)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59028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B1A1A"/>
                </a:solidFill>
              </a:rPr>
              <a:t>2.248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1206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8B1A1A"/>
                </a:solidFill>
              </a:rPr>
              <a:t>+5.4% worse than baseline.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188720"/>
            <a:ext cx="54864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12161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did it fail?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572768"/>
            <a:ext cx="5486400" cy="246888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16916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Model sees two catalysts with nearly identical composition: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0574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One labelled 5.2%  (our lab)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2423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One labelled 8.7%  (literature)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28346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No feature explains the gap — flow rate, gas ratio, etc. are absent. The model hedges and predicts both badly.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977639"/>
            <a:ext cx="5486400" cy="173736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4050791"/>
            <a:ext cx="5266944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3A00"/>
                </a:solidFill>
              </a:rPr>
              <a:t>The 3.42 pp offset is a SYSTEMATIC signal the model cannot account for — and incorrectly tries to fit.
Ben-David et al. (2010, Mach. Learn.): when source and target distributions differ significantly, naive combination can perform WORSE than target-only training.
⇒ We need to be much more selective.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DRST — Filtering by Chemical Similarity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6 / 12</a:t>
            </a:r>
          </a:p>
        </p:txBody>
      </p:sp>
      <p:pic>
        <p:nvPicPr>
          <p:cNvPr id="7" name="Picture 6" descr="fig_drst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583680" cy="23829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4114800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0596E"/>
                </a:solidFill>
              </a:rPr>
              <a:t>Histogram of P(ours | x) for every literature sample.  Dashed lines = candidate thresholds.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1143000"/>
            <a:ext cx="47548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1170432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60020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Train logistic classifier (finds element-space boundary):  ours=1, lit=0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196596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Score each lit sample:  P(ours | 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233172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Keep samples scoring ≥ 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2743200"/>
            <a:ext cx="4754880" cy="59436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42048" y="2816352"/>
            <a:ext cx="453542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0596E"/>
                </a:solidFill>
              </a:rPr>
              <a:t>Logistic regression = finds a hyperplane in 67-dimensional feature space that best separates our samples from literature. Ref: Huang et al. (2006, NeurIPS); Sugiyama et al. (2007, JMLR).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429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Threshold sweep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3840480"/>
            <a:ext cx="475488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386791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8679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kept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38679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4206240"/>
            <a:ext cx="47548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69480" y="424281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24281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1168 kept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424281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2.068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4572000"/>
            <a:ext cx="47548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460857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60857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987 kept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460857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2.034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0" y="4937760"/>
            <a:ext cx="4754880" cy="365760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9480" y="497433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τ = 0.30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97433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782 kept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497433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2.019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0" y="5303520"/>
            <a:ext cx="47548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69480" y="534009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534009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543 kept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534009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2.045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0" y="5715000"/>
            <a:ext cx="4754880" cy="68580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42048" y="5788152"/>
            <a:ext cx="4535424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3A00"/>
                </a:solidFill>
              </a:rPr>
              <a:t>Unsolved: hard cutoff is arbitrary — a sample at 0.29 is fully discarded; 0.31 gets full weight.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KMM — Soft Weights Instead of a Hard Filter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7 / 12</a:t>
            </a:r>
          </a:p>
        </p:txBody>
      </p:sp>
      <p:pic>
        <p:nvPicPr>
          <p:cNvPr id="7" name="Picture 6" descr="fig_kmm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949440" cy="142458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98079" y="1143000"/>
            <a:ext cx="438912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170432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1600200"/>
            <a:ext cx="42976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Each lit sample gets weight wᵢ ∈ [0, 10]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947672"/>
            <a:ext cx="42976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RBF kernel similarity: K(x,x′) = exp(−‖x−x′‖²/2σ²)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295144"/>
            <a:ext cx="42976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Solve QP:  ½ wᵀK_ss w − κᵀw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642616"/>
            <a:ext cx="42976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σ via median heuristic (parameter-free)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063240"/>
            <a:ext cx="4389120" cy="566928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7807" y="3136392"/>
            <a:ext cx="41696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0596E"/>
                </a:solidFill>
              </a:rPr>
              <a:t>RBF kernel = chemical similarity based on distance in element-composition space. Ref: Huang et al. (2006, NeurIPS); Gretton et al. (2009, Dataset Shift in ML).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373075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Result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4114800"/>
            <a:ext cx="438912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16052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KMM CV RMSE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416052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2.035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4480560"/>
            <a:ext cx="4389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452628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Δ vs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452628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−4.6%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79" y="4846320"/>
            <a:ext cx="438912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489204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Near-zero weights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489204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78.5%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79" y="5212080"/>
            <a:ext cx="4389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5240" y="525780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Agreement w/ DRST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525780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r = 0.79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5669280"/>
            <a:ext cx="438912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7807" y="5742432"/>
            <a:ext cx="416966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Reassuring: two unrelated methods flag the same 78.5% of samples ⇒ real signal, not artifact.
Still unsolved: literature labels remain in training, so the 3.42 pp offset still bleeds 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Prior Feature Transfer — The Winning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8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8C8"/>
                </a:solidFill>
              </a:rPr>
              <a:t>STAGE 1 — Pre-train on Literature Chemistry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5661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STAGE 2 — Fine-tune on Our Labels Only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2286000" cy="914400"/>
          </a:xfrm>
          <a:prstGeom prst="rect">
            <a:avLst/>
          </a:prstGeom>
          <a:solidFill>
            <a:srgbClr val="CCE0FF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E42"/>
                </a:solidFill>
              </a:rPr>
              <a:t>Literature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E42"/>
                </a:solidFill>
              </a:rPr>
              <a:t>3,852 samples
(DRST filtered)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2011680.0"/>
            <a:ext cx="457200" cy="0.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108960" y="1554480"/>
            <a:ext cx="2286000" cy="914400"/>
          </a:xfrm>
          <a:prstGeom prst="rect">
            <a:avLst/>
          </a:prstGeom>
          <a:solidFill>
            <a:srgbClr val="0078C8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Stage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XGBoost
pre-train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94960" y="2011680.0"/>
            <a:ext cx="457200" cy="0.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852160" y="1554480"/>
            <a:ext cx="2286000" cy="914400"/>
          </a:xfrm>
          <a:prstGeom prst="rect">
            <a:avLst/>
          </a:prstGeom>
          <a:solidFill>
            <a:srgbClr val="F59E0B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lit_prior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prediction
(68th feature)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23360"/>
            <a:ext cx="2286000" cy="914400"/>
          </a:xfrm>
          <a:prstGeom prst="rect">
            <a:avLst/>
          </a:prstGeom>
          <a:solidFill>
            <a:srgbClr val="CCE8D0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Our Lab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5E20"/>
                </a:solidFill>
              </a:rPr>
              <a:t>89,074 samples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6517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108960" y="4023360"/>
            <a:ext cx="2286000" cy="914400"/>
          </a:xfrm>
          <a:prstGeom prst="rect">
            <a:avLst/>
          </a:prstGeom>
          <a:solidFill>
            <a:srgbClr val="E0E8F8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E42"/>
                </a:solidFill>
              </a:rPr>
              <a:t>Append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E42"/>
                </a:solidFill>
              </a:rPr>
              <a:t>68th feature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852160" y="4023360"/>
            <a:ext cx="2286000" cy="914400"/>
          </a:xfrm>
          <a:prstGeom prst="rect">
            <a:avLst/>
          </a:prstGeom>
          <a:solidFill>
            <a:srgbClr val="10B981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Stage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LightGBM
our labels only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1381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595360" y="4023360"/>
            <a:ext cx="2286000" cy="914400"/>
          </a:xfrm>
          <a:prstGeom prst="rect">
            <a:avLst/>
          </a:prstGeom>
          <a:solidFill>
            <a:srgbClr val="0F1E42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Prediction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Y(C₂) %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4251960.0" y="2468880"/>
            <a:ext cx="2743200.0" cy="1554480"/>
          </a:xfrm>
          <a:prstGeom prst="line">
            <a:avLst/>
          </a:prstGeom>
          <a:ln w="317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65760" y="5166360"/>
            <a:ext cx="11430000" cy="132588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2303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Key property — feature-based transfer learning  (Pan &amp; Yang, 2010, IEEE TKDE)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5961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Stage 2 NEVER sees literature labels. The 3.42 pp offset affects the VALUE of the 68th feature — which Stage 2 can calibrate: "when expert says X, my lab gets ~X − 3.4". It does NOT corrupt the training loss (which it could not fix). Stage 1 uses XGBoost (Chen &amp; Guestrin, 2016) for conservative behaviour on 782 samples; Stage 2 uses LightGBM (Ke et al., 2017) for efficiency on 89,074 rows.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Results — All Five Methods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9 / 12</a:t>
            </a:r>
          </a:p>
        </p:txBody>
      </p:sp>
      <p:pic>
        <p:nvPicPr>
          <p:cNvPr id="7" name="Picture 6" descr="fig_walkthrough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949440" cy="3048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Cross-validation (our data)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600200"/>
            <a:ext cx="457200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162763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1627632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1627632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1965960"/>
            <a:ext cx="4572000" cy="365760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200253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1A1A"/>
                </a:solidFill>
              </a:rPr>
              <a:t>Naive merge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00253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2.248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200253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+5.4%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31720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236829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36829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236829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2697480"/>
            <a:ext cx="45720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79" y="273405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KMM weighted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73405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273405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−4.6%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3063240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309981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DRST (τ=0.30)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09981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309981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−5.3%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429000"/>
            <a:ext cx="4572000" cy="365760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79" y="346557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Prior FT  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46557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1.907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46557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−10.6%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OOD robustness (unseen lit)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4526280"/>
            <a:ext cx="457200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79" y="45537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455371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OOD RMSE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06640" y="4892040"/>
            <a:ext cx="4572000" cy="38404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79" y="493776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493776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6.53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06640" y="5276088"/>
            <a:ext cx="4572000" cy="384048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8079" y="5321808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Prior FT  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532180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3.60  (−45%)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OOD: 2,139 non-Impregnation lit samples, unseen.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SHAP — Did the Model Learn Real Chemistry?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10 / 12</a:t>
            </a:r>
          </a:p>
        </p:txBody>
      </p:sp>
      <p:pic>
        <p:nvPicPr>
          <p:cNvPr id="7" name="Picture 6" descr="fig_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217920" cy="585426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675120" y="1143000"/>
            <a:ext cx="52120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170432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Top findings (3,000 sample subsample)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627632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#1: lit_prior_prediction — transfer is genuinely used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011680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Temperature — strong positive, T↑ → C₂↑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395728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Ba, Mn, La, Ce — known OCM active phases / promoters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779776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Li, K — mixed / suppressive effect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657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Residual pattern (ceiling effect)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4069080"/>
            <a:ext cx="52120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965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Y(C₂) 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40965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4453128"/>
            <a:ext cx="52120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48970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0 – 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448970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1.43 – 1.48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4818888"/>
            <a:ext cx="52120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485546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6 – 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485546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1.95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5184648"/>
            <a:ext cx="52120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522122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10 – 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522122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2.58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5550408"/>
            <a:ext cx="5212080" cy="365760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558698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</a:rPr>
              <a:t>&gt; 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558698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B1A1A"/>
                </a:solidFill>
              </a:rPr>
              <a:t>4.70  (−4.2 pp bias)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89788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0596E"/>
                </a:solidFill>
              </a:rPr>
              <a:t>Root cause: GHSV, CH₄/O₂ ratio, pressure absent from dataset. SHAP reference: Lundberg &amp; Lee (2017, NeurIPS); Shapley (1953).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Limitations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11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3749039" cy="3108960"/>
          </a:xfrm>
          <a:prstGeom prst="rect">
            <a:avLst/>
          </a:prstGeom>
          <a:solidFill>
            <a:srgbClr val="F5F6F8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3749039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70432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Option A — Easy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45920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Add reaction conditions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57400"/>
            <a:ext cx="34747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Include GHSV, CH₄/O₂, and pressure as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347471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0596E"/>
                </a:solidFill>
              </a:rPr>
              <a:t>Expected to fix the &gt;15% ceiling effect and reduce high-yield RMSE from 4.70 to ~2.5.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399" y="1143000"/>
            <a:ext cx="3749039" cy="3108960"/>
          </a:xfrm>
          <a:prstGeom prst="rect">
            <a:avLst/>
          </a:prstGeom>
          <a:solidFill>
            <a:srgbClr val="F5F6F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399" y="1143000"/>
            <a:ext cx="3749039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59" y="1170432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Option B — Medium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1645920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Tune transfer threshold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2057400"/>
            <a:ext cx="34747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Sweep DRST τ and Stage 1 sample size jointly.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2834640"/>
            <a:ext cx="347471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0596E"/>
                </a:solidFill>
              </a:rPr>
              <a:t>Current best: τ = 0.30 (782 samples). Grid search may recover 0.3–0.5% additional RMSE.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38" y="1143000"/>
            <a:ext cx="3749039" cy="3108960"/>
          </a:xfrm>
          <a:prstGeom prst="rect">
            <a:avLst/>
          </a:prstGeom>
          <a:solidFill>
            <a:srgbClr val="F5F6F8"/>
          </a:solidFill>
          <a:ln w="9525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38" y="1143000"/>
            <a:ext cx="3749039" cy="411480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198" y="1170432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Option C — Hard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198" y="1645920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Neural domain adaptation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198" y="2057400"/>
            <a:ext cx="34747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Replace LightGBM with DANN or CORAL.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198" y="2834640"/>
            <a:ext cx="347471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0596E"/>
                </a:solidFill>
              </a:rPr>
              <a:t>High complexity — only justified after reaction conditions are added.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480560"/>
            <a:ext cx="5669280" cy="1828800"/>
          </a:xfrm>
          <a:prstGeom prst="rect">
            <a:avLst/>
          </a:prstGeom>
          <a:solidFill>
            <a:srgbClr val="F5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544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Key Limitations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937760"/>
            <a:ext cx="55778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•  Missing GHSV / CH₄:O₂ / pressure features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266944"/>
            <a:ext cx="55778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•  Literature has 15+ prep methods — coverage uneven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596128"/>
            <a:ext cx="55778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•  Publication bias: only successful experiments published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925312"/>
            <a:ext cx="55778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•  OOD improvement may not generalise to new catalyst families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480560"/>
            <a:ext cx="5669280" cy="182880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4544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</a:rPr>
              <a:t>Recommended Priority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937760"/>
            <a:ext cx="55778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5E20"/>
                </a:solidFill>
              </a:rPr>
              <a:t>•  1. Collect GHSV + CH₄/O₂  (highest impact)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321808"/>
            <a:ext cx="55778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5E20"/>
                </a:solidFill>
              </a:rPr>
              <a:t>•  2. Re-run Prior FT with expanded features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705856"/>
            <a:ext cx="55778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5E20"/>
                </a:solidFill>
              </a:rPr>
              <a:t>•  3. Revisit τ tuning with updated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12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280160"/>
            <a:ext cx="10332720" cy="420624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173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What we asked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8308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Can published OCM literature improve a lab-data model without harming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3774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What we learned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8892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Naive merging HARMS accuracy (+5.4% RMSE) — the systematic offset corrupts training.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8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Selective filtering (DRST / KMM) recovers about 5% improvement — independent methods agree (r=0.79).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2044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Using literature as a PRIOR FEATURE (not a label) gives the biggest gain: −10.6% CV, −45% OOD.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88620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SHAP confirms the model uses real OCM chemistry: temperature, Ba, Mn, La, Ce, and the literature prior drive predictions.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623560"/>
            <a:ext cx="10332720" cy="77724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6967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</a:rPr>
              <a:t>Next step that matters most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5E20"/>
                </a:solidFill>
              </a:rPr>
              <a:t>Add GHSV and CH₄:O₂ to the feature set — the high-yield ceiling is data-bound, not model-bound.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