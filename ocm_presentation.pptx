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Domain-Adaptive Transfer Learning for Catalyst Yield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Two Very Different Datasets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2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03520" cy="42062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303520" cy="41148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Our Lab Data (Internal)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5303520" cy="475488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73352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21408"/>
            <a:ext cx="5303520" cy="475488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48840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14884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96896"/>
            <a:ext cx="5303520" cy="475488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24328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62432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72384"/>
            <a:ext cx="5303520" cy="475488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099816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09981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47872"/>
            <a:ext cx="5303520" cy="475488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75304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57530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Controlled, fixed protocol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023360"/>
            <a:ext cx="5303520" cy="457200"/>
          </a:xfrm>
          <a:prstGeom prst="rect">
            <a:avLst/>
          </a:prstGeom>
          <a:solidFill>
            <a:srgbClr val="D0E8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5C2A"/>
                </a:solidFill>
              </a:rPr>
              <a:t>✓  High volume, consistent protocol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498848"/>
            <a:ext cx="530352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2628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1A1A"/>
                </a:solidFill>
              </a:rPr>
              <a:t>✗  Narrow chemical diversity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71032" y="1234440"/>
            <a:ext cx="5852160" cy="42062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71032" y="1234440"/>
            <a:ext cx="5852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8192" y="126187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Literature Data (Public, ≤2019)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1032" y="1645920"/>
            <a:ext cx="5852160" cy="475488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167335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167335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71032" y="2121408"/>
            <a:ext cx="5852160" cy="475488"/>
          </a:xfrm>
          <a:prstGeom prst="rect">
            <a:avLst/>
          </a:prstGeom>
          <a:solidFill>
            <a:srgbClr val="FF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214884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5632" y="21488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71032" y="2596896"/>
            <a:ext cx="5852160" cy="475488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2" y="262432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85632" y="262432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71032" y="3072384"/>
            <a:ext cx="5852160" cy="475488"/>
          </a:xfrm>
          <a:prstGeom prst="rect">
            <a:avLst/>
          </a:prstGeom>
          <a:solidFill>
            <a:srgbClr val="FF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09981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5632" y="309981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71032" y="3547872"/>
            <a:ext cx="5852160" cy="475488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357530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357530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Mixed labs, varied protocols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71032" y="4023360"/>
            <a:ext cx="5852160" cy="457200"/>
          </a:xfrm>
          <a:prstGeom prst="rect">
            <a:avLst/>
          </a:prstGeom>
          <a:solidFill>
            <a:srgbClr val="D0E8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08192" y="4050791"/>
            <a:ext cx="5577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5C2A"/>
                </a:solidFill>
              </a:rPr>
              <a:t>✓  Chemical diversity, high-yield recipes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71032" y="4498848"/>
            <a:ext cx="585216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4526280"/>
            <a:ext cx="5577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1A1A"/>
                </a:solidFill>
              </a:rPr>
              <a:t>✗  Publication bias, missing conditions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486400"/>
            <a:ext cx="11457432" cy="658368"/>
          </a:xfrm>
          <a:prstGeom prst="rect">
            <a:avLst/>
          </a:prstGeom>
          <a:solidFill>
            <a:srgbClr val="FFF0F0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522976"/>
            <a:ext cx="110642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1A1A"/>
                </a:solidFill>
              </a:rPr>
              <a:t>Challenge:  Δ mean Y(C2) = 8.67 − 5.25 = 3.42 pp    (t = −32.2,  p = 2.3 × 10⁻²⁰²)  —  datasets are statistically different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Domain Gap — Why We Cannot Just Mix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3 / 8</a:t>
            </a:r>
          </a:p>
        </p:txBody>
      </p:sp>
      <p:pic>
        <p:nvPicPr>
          <p:cNvPr id="7" name="Picture 6" descr="fig_pca_domain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31029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097280"/>
            <a:ext cx="5577840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11556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the PCA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72768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 65 element features compressed to 2D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 Blue = our 89k samples;   Red = literature 3.8k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67712"/>
            <a:ext cx="539496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 Literature spans regions our model has never seen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80360"/>
            <a:ext cx="557784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89864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264408"/>
            <a:ext cx="5577840" cy="438912"/>
          </a:xfrm>
          <a:prstGeom prst="rect">
            <a:avLst/>
          </a:prstGeom>
          <a:solidFill>
            <a:srgbClr val="F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3291840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78.5% of literature samples are out-of-distribution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703320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3730752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data: Ba-dominant   |   Literature: Si / Na / Mn dominant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142232"/>
            <a:ext cx="5577840" cy="438912"/>
          </a:xfrm>
          <a:prstGeom prst="rect">
            <a:avLst/>
          </a:prstGeom>
          <a:solidFill>
            <a:srgbClr val="F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416966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La, Ce, Sr, Mg shared between both — transfer is possible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81144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460857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Gap is in proportions, not in completely foreign chemistry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138928"/>
            <a:ext cx="5577840" cy="621792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517550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3A00"/>
                </a:solidFill>
              </a:rPr>
              <a:t>Naive concatenation inflates training error — literature samples vote equally despite representing a different measurement regime.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Five Approaches — What We Tried and What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4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2971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69848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51560"/>
            <a:ext cx="379476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069848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Core Idea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1051560"/>
            <a:ext cx="169164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1069848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051560"/>
            <a:ext cx="123444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06984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Δ vs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49840" y="1051560"/>
            <a:ext cx="1783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106984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435608"/>
            <a:ext cx="2971800" cy="713232"/>
          </a:xfrm>
          <a:prstGeom prst="rect">
            <a:avLst/>
          </a:prstGeom>
          <a:solidFill>
            <a:srgbClr val="F0F0F5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1481328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
(no literature)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1435608"/>
            <a:ext cx="3794760" cy="713232"/>
          </a:xfrm>
          <a:prstGeom prst="rect">
            <a:avLst/>
          </a:prstGeom>
          <a:solidFill>
            <a:srgbClr val="F0F0F5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5848" y="1481328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LightGBM on 89k internal samples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435608"/>
            <a:ext cx="1691640" cy="713232"/>
          </a:xfrm>
          <a:prstGeom prst="rect">
            <a:avLst/>
          </a:prstGeom>
          <a:solidFill>
            <a:srgbClr val="F0F0F5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8" y="1481328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1435608"/>
            <a:ext cx="1234440" cy="713232"/>
          </a:xfrm>
          <a:prstGeom prst="rect">
            <a:avLst/>
          </a:prstGeom>
          <a:solidFill>
            <a:srgbClr val="F0F0F5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3688" y="1481328"/>
            <a:ext cx="1143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0" y="1435608"/>
            <a:ext cx="1783080" cy="713232"/>
          </a:xfrm>
          <a:prstGeom prst="rect">
            <a:avLst/>
          </a:prstGeom>
          <a:solidFill>
            <a:srgbClr val="F0F0F5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13848" y="148132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Reference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148840"/>
            <a:ext cx="2971800" cy="713232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219456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3C3C"/>
                </a:solidFill>
              </a:rPr>
              <a:t>Naive
concatenation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2148840"/>
            <a:ext cx="3794760" cy="713232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219456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3C3C"/>
                </a:solidFill>
              </a:rPr>
              <a:t>Add all 3,852 literature rows with equal weight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48840"/>
            <a:ext cx="1691640" cy="713232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96328" y="219456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3C3C"/>
                </a:solidFill>
              </a:rPr>
              <a:t>2.248%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2148840"/>
            <a:ext cx="1234440" cy="713232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33688" y="2194560"/>
            <a:ext cx="1143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3C3C"/>
                </a:solidFill>
              </a:rPr>
              <a:t>+5.4%  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0" y="2148840"/>
            <a:ext cx="1783080" cy="713232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219456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3C3C"/>
                </a:solidFill>
              </a:rPr>
              <a:t>WORSE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862072"/>
            <a:ext cx="297180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" y="2907792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 (τ = 0.30)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91840" y="2862072"/>
            <a:ext cx="379476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2907792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Keep 782 similar literature samples via density-ratio classifier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0" y="2862072"/>
            <a:ext cx="169164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96328" y="2907792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2.019%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69680" y="2862072"/>
            <a:ext cx="123444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33688" y="2907792"/>
            <a:ext cx="1143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−5.3%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49840" y="2862072"/>
            <a:ext cx="178308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3848" y="290779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Better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575304"/>
            <a:ext cx="297180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" y="3621024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KMM reweighting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0" y="3575304"/>
            <a:ext cx="379476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55848" y="3621024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QP solver: soft per-sample weights; 78.5% → near zero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0" y="3575304"/>
            <a:ext cx="169164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96328" y="3621024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2.035%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69680" y="3575304"/>
            <a:ext cx="123444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33688" y="3621024"/>
            <a:ext cx="1143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−4.6%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49840" y="3575304"/>
            <a:ext cx="178308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13848" y="3621024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Better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288536"/>
            <a:ext cx="297180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" y="4334256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Bias correction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4288536"/>
            <a:ext cx="379476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55848" y="4334256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Quantile-normalise literature Y(C2) to our distribution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32320" y="4288536"/>
            <a:ext cx="169164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96328" y="4334256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2.044%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69680" y="4288536"/>
            <a:ext cx="123444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33688" y="4334256"/>
            <a:ext cx="1143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−4.2%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4288536"/>
            <a:ext cx="1783080" cy="713232"/>
          </a:xfrm>
          <a:prstGeom prst="rect">
            <a:avLst/>
          </a:prstGeom>
          <a:solidFill>
            <a:srgbClr val="F5F8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13848" y="4334256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6E40"/>
                </a:solidFill>
              </a:rPr>
              <a:t>Better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001768"/>
            <a:ext cx="2971800" cy="71323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328" y="5047488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Two-stage
fine-tuning  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5001768"/>
            <a:ext cx="3794760" cy="71323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55848" y="5047488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XGBoost prior on filtered literature → 68th feature → LightGBM on our labels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32320" y="5001768"/>
            <a:ext cx="1691640" cy="71323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96328" y="5047488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5E20"/>
                </a:solidFill>
              </a:rPr>
              <a:t>1.907%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69680" y="5001768"/>
            <a:ext cx="1234440" cy="71323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933688" y="5047488"/>
            <a:ext cx="1143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5E20"/>
                </a:solidFill>
              </a:rPr>
              <a:t>−10.6%  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49840" y="5001768"/>
            <a:ext cx="1783080" cy="71323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13848" y="504748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5E20"/>
                </a:solidFill>
              </a:rPr>
              <a:t>BEST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806440"/>
            <a:ext cx="11640312" cy="420624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583387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OOD test (2,139 held-out non-Impregnation literature samples, never trained on):   Baseline 6.53%  →  Two-stage 3.60%     −45%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Two-Stage Fine-Tuning —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5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204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2194560" cy="868680"/>
          </a:xfrm>
          <a:prstGeom prst="rect">
            <a:avLst/>
          </a:prstGeom>
          <a:solidFill>
            <a:srgbClr val="01579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8191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Literature (782)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6047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DRST-filtered samples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80" y="1943100"/>
            <a:ext cx="502920" cy="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971800" y="1508760"/>
            <a:ext cx="2194560" cy="86868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 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047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Pre-train on literature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66360" y="1943100"/>
            <a:ext cx="502920" cy="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669280" y="1508760"/>
            <a:ext cx="2194560" cy="86868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158191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lit_prior_prediction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196047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New 68th feature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31920"/>
            <a:ext cx="2194560" cy="868680"/>
          </a:xfrm>
          <a:prstGeom prst="rect">
            <a:avLst/>
          </a:prstGeom>
          <a:solidFill>
            <a:srgbClr val="1B5E2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00507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Lab Data (89,074)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8363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Internal experiments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68880" y="4366260"/>
            <a:ext cx="502920" cy="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971800" y="3931920"/>
            <a:ext cx="2194560" cy="868680"/>
          </a:xfrm>
          <a:prstGeom prst="rect">
            <a:avLst/>
          </a:prstGeom>
          <a:solidFill>
            <a:srgbClr val="33691E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40" y="400507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Merge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438363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67 original + prior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66360" y="4366260"/>
            <a:ext cx="502920" cy="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669280" y="3931920"/>
            <a:ext cx="2194560" cy="86868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0" y="400507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  LightGBM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438363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Train on OUR labels only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3840" y="4366260"/>
            <a:ext cx="502920" cy="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366760" y="3931920"/>
            <a:ext cx="2194560" cy="86868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4005072"/>
            <a:ext cx="2011680" cy="477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Y(C2)% 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383633"/>
            <a:ext cx="20116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Final output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4069080" y="2377440"/>
            <a:ext cx="2697480" cy="155448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32320" y="1371600"/>
            <a:ext cx="4754880" cy="347472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14173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Key Property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8040" y="1874519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1901952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Stage 2 trains only on our labels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2532887"/>
            <a:ext cx="4663440" cy="59436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2560320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Literature bias cannot corrupt
final predictions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78040" y="3191255"/>
            <a:ext cx="46634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0" y="3218688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Prior feature = chemistry signal
not competing label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8040" y="3849623"/>
            <a:ext cx="4663440" cy="59436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0" y="3877056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Model learns to trust / discount
the prior per composition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6 / 8</a:t>
            </a:r>
          </a:p>
        </p:txBody>
      </p:sp>
      <p:pic>
        <p:nvPicPr>
          <p:cNvPr id="7" name="Picture 6" descr="fig_result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6400800" cy="2085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0" y="1280160"/>
            <a:ext cx="4937760" cy="1737360"/>
          </a:xfrm>
          <a:prstGeom prst="rect">
            <a:avLst/>
          </a:prstGeom>
          <a:solidFill>
            <a:srgbClr val="F5F9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37160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In-distribution RMSE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7373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2.133%  →  1.907%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2240280"/>
            <a:ext cx="201168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22677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−10.6%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291840"/>
            <a:ext cx="4937760" cy="1737360"/>
          </a:xfrm>
          <a:prstGeom prst="rect">
            <a:avLst/>
          </a:prstGeom>
          <a:solidFill>
            <a:srgbClr val="F5F9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38328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Out-of-distribution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749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6.53%  →  3.60%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251960"/>
            <a:ext cx="201168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2793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−45%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5394960"/>
            <a:ext cx="4937760" cy="658368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5431536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B5E20"/>
                </a:solidFill>
              </a:rPr>
              <a:t>OOD test: 2,139 held-out samples, non-Impregnation
methods, never seen during any training fold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What Drives the Model? — SHAP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7 / 8</a:t>
            </a:r>
          </a:p>
        </p:txBody>
      </p:sp>
      <p:pic>
        <p:nvPicPr>
          <p:cNvPr id="7" name="Picture 6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5852160" cy="55099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63640" y="1097280"/>
            <a:ext cx="5623560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115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Top findings (3,000 sample subsample)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81328"/>
            <a:ext cx="5623560" cy="62179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08760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#1  lit_prior_prediction — literature knowledge
     is actively used on every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6235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148840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Temperature — strong positive; higher T favours 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761488"/>
            <a:ext cx="5623560" cy="62179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788920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Ba, Mn, La, Ce — all raise predicted yield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401567"/>
            <a:ext cx="56235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3428999"/>
            <a:ext cx="539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Li, K — mixed / context-dependent effect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069080"/>
            <a:ext cx="5623560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408736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Residual analysis (ceiling effect)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434840"/>
            <a:ext cx="56235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45312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4531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1.43 – 1.48%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4531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≈ 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818888"/>
            <a:ext cx="5623560" cy="384048"/>
          </a:xfrm>
          <a:prstGeom prst="rect">
            <a:avLst/>
          </a:prstGeom>
          <a:solidFill>
            <a:srgbClr val="FFF8E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83717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48371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8371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−0.3%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5202936"/>
            <a:ext cx="5623560" cy="384048"/>
          </a:xfrm>
          <a:prstGeom prst="rect">
            <a:avLst/>
          </a:prstGeom>
          <a:solidFill>
            <a:srgbClr val="FFF0D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22122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522122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2.58%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522122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−1.5%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5586984"/>
            <a:ext cx="5623560" cy="384048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560527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&gt; 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5605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4.70%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5605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C3C3C"/>
                </a:solidFill>
              </a:rPr>
              <a:t>−4.2%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5989320"/>
            <a:ext cx="5623560" cy="530352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6016752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3A00"/>
                </a:solidFill>
              </a:rPr>
              <a:t>Root cause: GHSV, CH₄/O₂ ratio, pressure absent from dataset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Limitations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8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49039" cy="4434840"/>
          </a:xfrm>
          <a:prstGeom prst="rect">
            <a:avLst/>
          </a:prstGeom>
          <a:solidFill>
            <a:srgbClr val="F8F9FF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3749039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1615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Option A  —  Easy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8105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E42"/>
                </a:solidFill>
              </a:rPr>
              <a:t>Add Reaction 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304288"/>
            <a:ext cx="352958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Collect GHSV, CH₄/O₂ ratio, and pressure as features. Expected to fix the &gt;15% ceiling effect and reduce high-yield RMSE from 4.70% to ~2.5%.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4434840"/>
          </a:xfrm>
          <a:prstGeom prst="rect">
            <a:avLst/>
          </a:prstGeom>
          <a:solidFill>
            <a:srgbClr val="F8F9FF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188720"/>
            <a:ext cx="3749039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121615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Option B  —  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18105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E42"/>
                </a:solidFill>
              </a:rPr>
              <a:t>Tune Transfer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7" y="2304288"/>
            <a:ext cx="352958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Grid-search DRST τ via nested CV. Current τ=0.30 was manually swept. Proper search may recover 0.3–0.5% RMSE.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9" y="1188720"/>
            <a:ext cx="3749039" cy="4434840"/>
          </a:xfrm>
          <a:prstGeom prst="rect">
            <a:avLst/>
          </a:prstGeom>
          <a:solidFill>
            <a:srgbClr val="F8F9FF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9" y="1188720"/>
            <a:ext cx="3749039" cy="50292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9" y="121615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Option C  —  Hard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18105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E42"/>
                </a:solidFill>
              </a:rPr>
              <a:t>Neural Domain Adaptation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304288"/>
            <a:ext cx="352958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Replace XGBoost with domain-adversarial neural network (DANN/CORAL). High complexity — only justified after reaction conditions are added.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715000"/>
            <a:ext cx="5486400" cy="804672"/>
          </a:xfrm>
          <a:prstGeom prst="rect">
            <a:avLst/>
          </a:prstGeom>
          <a:solidFill>
            <a:srgbClr val="F5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7332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Key Limitations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035040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Missing GHSV / CH₄:O₂ / pressure  •  Publication bias  •  OOD coverage uneven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5715000"/>
            <a:ext cx="5852160" cy="804672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573328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Recommended Priority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6035040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5E20"/>
                </a:solidFill>
              </a:rPr>
              <a:t>1. Add GHSV + CH₄/O₂  (highest impact)     2. Re-run two-stage     3. Tune threshold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