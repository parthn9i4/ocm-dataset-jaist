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697480"/>
            <a:ext cx="12188952" cy="5486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2801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ABBDD"/>
                </a:solidFill>
              </a:rPr>
              <a:t>JAIST — Taniike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737360"/>
            <a:ext cx="9966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</a:rPr>
              <a:t>Integrating OCM Literature Data
into Lab-Scale ML Models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4612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1">
                <a:solidFill>
                  <a:srgbClr val="99BBEE"/>
                </a:solidFill>
              </a:rPr>
              <a:t>A Walkthrough of Five Transfer-Learning Approaches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3977639"/>
            <a:ext cx="3959352" cy="36576"/>
          </a:xfrm>
          <a:prstGeom prst="rect">
            <a:avLst/>
          </a:prstGeom>
          <a:solidFill>
            <a:srgbClr val="4466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4160520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CCDDFF"/>
                </a:solidFill>
              </a:rPr>
              <a:t>Partha Nupam Nagar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57200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8899BB"/>
                </a:solidFill>
              </a:rPr>
              <a:t>June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The Problem — Two Datasets, Three Systematic Differences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2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5486400" cy="2377440"/>
          </a:xfrm>
          <a:prstGeom prst="rect">
            <a:avLst/>
          </a:prstGeom>
          <a:solidFill>
            <a:srgbClr val="E8F4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097280"/>
            <a:ext cx="548640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1247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Our Lab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55448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Samples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554480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89,074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901952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Year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901952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249424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Preparation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80" y="2249424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Impregnation only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59689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Mean Y(C2)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596896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5.25%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944368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Conditions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2944368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Fixed, one lab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5080" y="1097280"/>
            <a:ext cx="5486400" cy="2377440"/>
          </a:xfrm>
          <a:prstGeom prst="rect">
            <a:avLst/>
          </a:prstGeom>
          <a:solidFill>
            <a:srgbClr val="FFF5E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1097280"/>
            <a:ext cx="548640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112471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Published Literature (≤2019)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1554480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Samples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32520" y="1554480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3,852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1901952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Year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1901952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1982 – 2019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249424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Preparation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2249424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15+ methods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2596896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Mean Y(C2)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732520" y="2596896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8.67%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2944368"/>
            <a:ext cx="2194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50596E"/>
                </a:solidFill>
              </a:rPr>
              <a:t>Conditions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2520" y="2944368"/>
            <a:ext cx="30175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40 years of diverse labs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36118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1">
                <a:solidFill>
                  <a:srgbClr val="0F1E42"/>
                </a:solidFill>
              </a:rPr>
              <a:t>Can we use literature to improve our model — without hurting it?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4114800"/>
            <a:ext cx="2468880" cy="384048"/>
          </a:xfrm>
          <a:prstGeom prst="rect">
            <a:avLst/>
          </a:prstGeom>
          <a:solidFill>
            <a:srgbClr val="D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133088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1. Label shift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71800" y="4151376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Literature mean is 3.42 pp higher (t = −32.2, p &lt; 10⁻²⁰⁰) — a systematic offset from publication bias and optimised conditions.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4681728"/>
            <a:ext cx="2468880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4700016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2. Covariate shift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71800" y="4718304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78.5% of literature samples describe chemistry our lab has never tested.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5248656"/>
            <a:ext cx="246888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5266944"/>
            <a:ext cx="2377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3. Publication bias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71800" y="5285232"/>
            <a:ext cx="8869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Literature is skewed, not just shifted — failed experiments are rarely reported, over-weighting high yields.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5760" y="5870448"/>
            <a:ext cx="11430000" cy="621792"/>
          </a:xfrm>
          <a:prstGeom prst="rect">
            <a:avLst/>
          </a:prstGeom>
          <a:solidFill>
            <a:srgbClr val="F5F6F8"/>
          </a:solidFill>
          <a:ln w="9525">
            <a:solidFill>
              <a:srgbClr val="0F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5943600"/>
            <a:ext cx="11210544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Why ML? The catalyst search space (65 elements × varying loadings × temperature) is too large to screen physically. A surrogate model guides experiments toward high-yield compositions.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Setup — Visualising the Two Shifts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3 / 13</a:t>
            </a:r>
          </a:p>
        </p:txBody>
      </p:sp>
      <p:pic>
        <p:nvPicPr>
          <p:cNvPr id="8" name="Picture 7" descr="fig_walkthrough_label_p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7589520" cy="2236570"/>
          </a:xfrm>
          <a:prstGeom prst="rect">
            <a:avLst/>
          </a:prstGeom>
        </p:spPr>
      </p:pic>
      <p:pic>
        <p:nvPicPr>
          <p:cNvPr id="9" name="Picture 8" descr="fig_element_us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4069080"/>
            <a:ext cx="7589520" cy="2652841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138160" y="1005840"/>
            <a:ext cx="3749039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033271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Top: label &amp; covariate shift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1463040"/>
            <a:ext cx="37033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Red band = 3.42 pp mean gap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1847088"/>
            <a:ext cx="37033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Orange tail = publication-bias skew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231136"/>
            <a:ext cx="37033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PCA: orange spreads outside blue cluster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4069080"/>
            <a:ext cx="3749039" cy="36576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4096512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Bottom: which elements differ?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4526280"/>
            <a:ext cx="37033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Different active phases / promoters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4910328"/>
            <a:ext cx="37033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Concrete chemistry, not abstract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5294376"/>
            <a:ext cx="370332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Justifies selective filtering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60" y="5760720"/>
            <a:ext cx="3749039" cy="640080"/>
          </a:xfrm>
          <a:prstGeom prst="rect">
            <a:avLst/>
          </a:prstGeom>
          <a:solidFill>
            <a:srgbClr val="FFF0D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47888" y="5833872"/>
            <a:ext cx="3529583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3A00"/>
                </a:solidFill>
              </a:rPr>
              <a:t>These three figures jointly forecast that naive concatenation will harm the model — confirmed on slide 5.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How We Measure Success — Asymmetric 5-Fold CV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4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097280"/>
            <a:ext cx="640080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124712"/>
            <a:ext cx="6126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The validation rule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55448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Our 89,074 samples split into 5 folds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92024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Training fold = 4/5 of our data + any literature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28600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Validation fold = 1/5 of our data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65176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Literature never appears in validation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337560"/>
            <a:ext cx="640080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64992"/>
            <a:ext cx="6126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Why asymmetric?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79476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The question: how well does the model predict OUR experiments?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16052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Mixing literature into validation would dilute the answer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526280"/>
            <a:ext cx="6309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Same CV harness used for every method — only training data changes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1097280"/>
            <a:ext cx="4846320" cy="1280160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804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5E20"/>
                </a:solidFill>
              </a:rPr>
              <a:t>Metric: RMSE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1600200"/>
            <a:ext cx="4572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in units of percentage points of C₂ yield.
An RMSE of 2.1 means typical error ≈ 2 pp.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606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5-fold split (our data, n=89,074)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4088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088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1
train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100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100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2
train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61120" y="3063240"/>
            <a:ext cx="914400" cy="777240"/>
          </a:xfrm>
          <a:prstGeom prst="rect">
            <a:avLst/>
          </a:prstGeom>
          <a:solidFill>
            <a:srgbClr val="DC3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3
VAL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2124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92124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4
train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881360" y="3063240"/>
            <a:ext cx="914400" cy="77724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881360" y="3108960"/>
            <a:ext cx="914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fold 5
train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40880" y="40233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50596E"/>
                </a:solidFill>
              </a:rPr>
              <a:t>+ literature (training only, never validation)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040880" y="4572000"/>
            <a:ext cx="4846320" cy="731520"/>
          </a:xfrm>
          <a:prstGeom prst="rect">
            <a:avLst/>
          </a:prstGeom>
          <a:solidFill>
            <a:srgbClr val="F5F6F8"/>
          </a:solidFill>
          <a:ln w="9525">
            <a:solidFill>
              <a:srgbClr val="0F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50608" y="4645152"/>
            <a:ext cx="4626864" cy="585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0596E"/>
                </a:solidFill>
              </a:rPr>
              <a:t>Repeat 5 times, rotating which fold is the validation set. Report mean RMSE ± std.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Baseline + Why Naive Merging Fails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5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887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Step 1 — establish baseline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45920"/>
            <a:ext cx="566928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7335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73352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CV RMSE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29968"/>
            <a:ext cx="5669280" cy="45720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07568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Baseline (our data only)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07568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A1A2E"/>
                </a:solidFill>
              </a:rPr>
              <a:t>2.133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6060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Number every method must beat.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2461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Step 2 — try the obvious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703320"/>
            <a:ext cx="566928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73075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3730752"/>
            <a:ext cx="1645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CV RMSE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087368"/>
            <a:ext cx="5669280" cy="45720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133087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Baseline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0" y="4133087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1A1A2E"/>
                </a:solidFill>
              </a:rPr>
              <a:t>2.133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544568"/>
            <a:ext cx="5669280" cy="457200"/>
          </a:xfrm>
          <a:prstGeom prst="rect">
            <a:avLst/>
          </a:prstGeom>
          <a:solidFill>
            <a:srgbClr val="FFEBEB"/>
          </a:solidFill>
          <a:ln w="9525">
            <a:solidFill>
              <a:srgbClr val="D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590288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2E"/>
                </a:solidFill>
              </a:rPr>
              <a:t>Naive merge (3,852 lit rows)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590288"/>
            <a:ext cx="1645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B1A1A"/>
                </a:solidFill>
              </a:rPr>
              <a:t>2.248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512064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8B1A1A"/>
                </a:solidFill>
              </a:rPr>
              <a:t>+5.4% worse than baseline.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1188720"/>
            <a:ext cx="548640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1216152"/>
            <a:ext cx="52120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Why did it fail?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1572768"/>
            <a:ext cx="5486400" cy="246888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60" y="169164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Model sees two catalysts with nearly identical composition: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205740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One labelled 5.2%  (our lab)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242316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One labelled 8.7%  (literature)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37960" y="2834640"/>
            <a:ext cx="52120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96E"/>
                </a:solidFill>
              </a:rPr>
              <a:t>No feature explains the gap — flow rate, gas ratio, etc. are absent. The model hedges and predicts both badly.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977639"/>
            <a:ext cx="5486400" cy="1737360"/>
          </a:xfrm>
          <a:prstGeom prst="rect">
            <a:avLst/>
          </a:prstGeom>
          <a:solidFill>
            <a:srgbClr val="FFF0D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0528" y="4050791"/>
            <a:ext cx="5266944" cy="1591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3A00"/>
                </a:solidFill>
              </a:rPr>
              <a:t>The 3.42 pp offset is a SYSTEMATIC signal the model cannot account for — and incorrectly tries to fit. Mixing the two datasets can perform WORSE than using ours alone.
⇒ We need to be much more selective.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DRST — Filtering by Chemical Similarity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6 / 13</a:t>
            </a:r>
          </a:p>
        </p:txBody>
      </p:sp>
      <p:pic>
        <p:nvPicPr>
          <p:cNvPr id="8" name="Picture 7" descr="fig_drst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6583680" cy="238295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4320" y="4114800"/>
            <a:ext cx="6583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50596E"/>
                </a:solidFill>
              </a:rPr>
              <a:t>Histogram of P(ours | x) for every literature sample.  Dashed lines = candidate thresholds.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1143000"/>
            <a:ext cx="475488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1170432"/>
            <a:ext cx="4480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How it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160020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Train logistic classifier (finds element-space boundary):  ours=1, lit=0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196596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Score each lit sample:  P(ours | x)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78040" y="233172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Keep samples scoring ≥ 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32320" y="2743200"/>
            <a:ext cx="4754880" cy="594360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42048" y="2816352"/>
            <a:ext cx="4535424" cy="4480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0596E"/>
                </a:solidFill>
              </a:rPr>
              <a:t>The classifier's confidence P(ours | x) is a similarity score: high = looks like our chemistry, low = foreign. We keep only literature scoring above τ.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0" y="34290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Threshold sweep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0" y="3840480"/>
            <a:ext cx="475488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3867912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86791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kept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3867912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RMSE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0" y="4206240"/>
            <a:ext cx="475488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9480" y="4242816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τ = 0.10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03920" y="424281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1168 kept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424281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2.068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0" y="4572000"/>
            <a:ext cx="475488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9480" y="4608576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τ = 0.20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460857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987 kept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460857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2.034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0" y="4937760"/>
            <a:ext cx="4754880" cy="365760"/>
          </a:xfrm>
          <a:prstGeom prst="rect">
            <a:avLst/>
          </a:prstGeom>
          <a:solidFill>
            <a:srgbClr val="E8F5E9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69480" y="4974336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τ = 0.30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497433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782 kept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497433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2.019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32320" y="5303520"/>
            <a:ext cx="475488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69480" y="5340096"/>
            <a:ext cx="1188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τ = 0.40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534009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543 kept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5340096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2.045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132320" y="5715000"/>
            <a:ext cx="4754880" cy="685800"/>
          </a:xfrm>
          <a:prstGeom prst="rect">
            <a:avLst/>
          </a:prstGeom>
          <a:solidFill>
            <a:srgbClr val="FFF0D8"/>
          </a:solidFill>
          <a:ln w="9525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42048" y="5788152"/>
            <a:ext cx="4535424" cy="5394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B3A00"/>
                </a:solidFill>
              </a:rPr>
              <a:t>Unsolved: hard cutoff is arbitrary — a sample at 0.29 is fully discarded; 0.31 gets full weight.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KMM — Soft Weights Instead of a Hard Filter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7 / 13</a:t>
            </a:r>
          </a:p>
        </p:txBody>
      </p:sp>
      <p:pic>
        <p:nvPicPr>
          <p:cNvPr id="8" name="Picture 7" descr="fig_kmm_weigh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6949440" cy="142458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498079" y="1143000"/>
            <a:ext cx="438912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1170432"/>
            <a:ext cx="4114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How it 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3800" y="1600200"/>
            <a:ext cx="42976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Each lit sample gets weight wᵢ ∈ [0, 10]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3800" y="1947672"/>
            <a:ext cx="42976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RBF kernel similarity: K(x,x′) = exp(−‖x−x′‖²/2σ²)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295144"/>
            <a:ext cx="42976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Solve QP:  ½ wᵀK_ss w − κᵀw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642616"/>
            <a:ext cx="42976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σ via median heuristic (parameter-free)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79" y="3063240"/>
            <a:ext cx="4389120" cy="566928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07807" y="3136392"/>
            <a:ext cx="4169664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50596E"/>
                </a:solidFill>
              </a:rPr>
              <a:t>KMM picks weights so the weighted literature cloud matches our data cloud. Samples inside our chemistry earn weight; those outside fade to zero.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373075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Result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79" y="4114800"/>
            <a:ext cx="438912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5240" y="4160520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KMM CV RMSE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416052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2.035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79" y="4480560"/>
            <a:ext cx="43891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35240" y="4526280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Δ vs baseline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24160" y="452628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−4.6%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98079" y="4846320"/>
            <a:ext cx="438912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35240" y="4892040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Near-zero weights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489204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78.5%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98079" y="5212080"/>
            <a:ext cx="438912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635240" y="5257800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0596E"/>
                </a:solidFill>
              </a:rPr>
              <a:t>Agreement w/ DRST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5257800"/>
            <a:ext cx="1371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A1A2E"/>
                </a:solidFill>
              </a:rPr>
              <a:t>r = 0.79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79" y="5669280"/>
            <a:ext cx="4389120" cy="777240"/>
          </a:xfrm>
          <a:prstGeom prst="rect">
            <a:avLst/>
          </a:prstGeom>
          <a:solidFill>
            <a:srgbClr val="F5F6F8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07807" y="5742432"/>
            <a:ext cx="4169664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Reassuring: two unrelated methods flag the same 78.5% of samples ⇒ real signal, not artifact.
Still unsolved: literature labels remain in training, so the 3.42 pp offset still bleeds 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Prior Feature Transfer — The Winning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8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09728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78C8"/>
                </a:solidFill>
              </a:rPr>
              <a:t>STAGE 1 — Pre-train on Literature Chemistry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56616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0B981"/>
                </a:solidFill>
              </a:rPr>
              <a:t>STAGE 2 — Fine-tune on Our Labels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554480"/>
            <a:ext cx="2286000" cy="914400"/>
          </a:xfrm>
          <a:prstGeom prst="rect">
            <a:avLst/>
          </a:prstGeom>
          <a:solidFill>
            <a:srgbClr val="CCE0FF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6276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1E42"/>
                </a:solidFill>
              </a:rPr>
              <a:t>Literature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0116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F1E42"/>
                </a:solidFill>
              </a:rPr>
              <a:t>3,852 samples
(DRST filtered)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651760" y="2011680.0"/>
            <a:ext cx="457200" cy="0.0"/>
          </a:xfrm>
          <a:prstGeom prst="line">
            <a:avLst/>
          </a:prstGeom>
          <a:ln w="31750">
            <a:solidFill>
              <a:srgbClr val="007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108960" y="1554480"/>
            <a:ext cx="2286000" cy="914400"/>
          </a:xfrm>
          <a:prstGeom prst="rect">
            <a:avLst/>
          </a:prstGeom>
          <a:solidFill>
            <a:srgbClr val="0078C8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6276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Stage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0116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XGBoost
pre-train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394960" y="2011680.0"/>
            <a:ext cx="457200" cy="0.0"/>
          </a:xfrm>
          <a:prstGeom prst="line">
            <a:avLst/>
          </a:prstGeom>
          <a:ln w="31750">
            <a:solidFill>
              <a:srgbClr val="007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5852160" y="1554480"/>
            <a:ext cx="2286000" cy="914400"/>
          </a:xfrm>
          <a:prstGeom prst="rect">
            <a:avLst/>
          </a:prstGeom>
          <a:solidFill>
            <a:srgbClr val="F59E0B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0" y="162763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lit_prior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201168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prediction
(68th feature)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023360"/>
            <a:ext cx="2286000" cy="914400"/>
          </a:xfrm>
          <a:prstGeom prst="rect">
            <a:avLst/>
          </a:prstGeom>
          <a:solidFill>
            <a:srgbClr val="CCE8D0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B5E20"/>
                </a:solidFill>
              </a:rPr>
              <a:t>Our Lab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B5E20"/>
                </a:solidFill>
              </a:rPr>
              <a:t>89,074 samples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651760" y="4480560.0"/>
            <a:ext cx="457200" cy="0.0"/>
          </a:xfrm>
          <a:prstGeom prst="line">
            <a:avLst/>
          </a:prstGeom>
          <a:ln w="317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3108960" y="4023360"/>
            <a:ext cx="2286000" cy="914400"/>
          </a:xfrm>
          <a:prstGeom prst="rect">
            <a:avLst/>
          </a:prstGeom>
          <a:solidFill>
            <a:srgbClr val="E0E8F8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F1E42"/>
                </a:solidFill>
              </a:rPr>
              <a:t>Append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F1E42"/>
                </a:solidFill>
              </a:rPr>
              <a:t>68th feature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394960" y="4480560.0"/>
            <a:ext cx="457200" cy="0.0"/>
          </a:xfrm>
          <a:prstGeom prst="line">
            <a:avLst/>
          </a:prstGeom>
          <a:ln w="317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5852160" y="4023360"/>
            <a:ext cx="2286000" cy="914400"/>
          </a:xfrm>
          <a:prstGeom prst="rect">
            <a:avLst/>
          </a:prstGeom>
          <a:solidFill>
            <a:srgbClr val="10B981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Stage 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LightGBM
our labels only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138160" y="4480560.0"/>
            <a:ext cx="457200" cy="0.0"/>
          </a:xfrm>
          <a:prstGeom prst="line">
            <a:avLst/>
          </a:prstGeom>
          <a:ln w="3175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8595360" y="4023360"/>
            <a:ext cx="2286000" cy="914400"/>
          </a:xfrm>
          <a:prstGeom prst="rect">
            <a:avLst/>
          </a:prstGeom>
          <a:solidFill>
            <a:srgbClr val="0F1E42"/>
          </a:solidFill>
          <a:ln w="9525">
            <a:solidFill>
              <a:srgbClr val="BB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0" y="4096512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Prediction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4480560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Y(C₂) %</a:t>
            </a:r>
          </a:p>
        </p:txBody>
      </p:sp>
      <p:cxnSp>
        <p:nvCxnSpPr>
          <p:cNvPr id="36" name="Connector 35"/>
          <p:cNvCxnSpPr/>
          <p:nvPr/>
        </p:nvCxnSpPr>
        <p:spPr>
          <a:xfrm flipH="1">
            <a:off x="4251960.0" y="2468880"/>
            <a:ext cx="2743200.0" cy="1554480"/>
          </a:xfrm>
          <a:prstGeom prst="line">
            <a:avLst/>
          </a:prstGeom>
          <a:ln w="3175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365760" y="5166360"/>
            <a:ext cx="11430000" cy="1325880"/>
          </a:xfrm>
          <a:prstGeom prst="rect">
            <a:avLst/>
          </a:prstGeom>
          <a:solidFill>
            <a:srgbClr val="F5F6F8"/>
          </a:solidFill>
          <a:ln w="9525">
            <a:solidFill>
              <a:srgbClr val="0F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523036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Key property — literature enters as a feature, not a label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5596128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Stage 2 NEVER sees literature labels. The 3.42 pp offset affects the VALUE of the 68th feature — which Stage 2 can calibrate: "when the expert says 8, my lab gets ~4.5". It does NOT corrupt the training loss, which it could not fix. A corrupted label can't be un-corrupted; a feature value is just another thing to learn around. Stage 1 uses XGBoost (conservative on 782 rows); Stage 2 uses LightGBM (fast on 89,074 rows).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Results — All Five Methods at a Glance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9 / 13</a:t>
            </a:r>
          </a:p>
        </p:txBody>
      </p:sp>
      <p:pic>
        <p:nvPicPr>
          <p:cNvPr id="8" name="Picture 7" descr="fig_walkthrough_resul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6949440" cy="304837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188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Cross-validation (our data)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1600200"/>
            <a:ext cx="457200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79" y="162763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1627632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RMSE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0" y="1627632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06640" y="1965960"/>
            <a:ext cx="4572000" cy="365760"/>
          </a:xfrm>
          <a:prstGeom prst="rect">
            <a:avLst/>
          </a:prstGeom>
          <a:solidFill>
            <a:srgbClr val="FFEBEB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200253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1A1A"/>
                </a:solidFill>
              </a:rPr>
              <a:t>Naive merge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0" y="200253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1A1A"/>
                </a:solidFill>
              </a:rPr>
              <a:t>2.248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200253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B1A1A"/>
                </a:solidFill>
              </a:rPr>
              <a:t>+5.4%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06640" y="2331720"/>
            <a:ext cx="4572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98079" y="236829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Baseline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236829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2.133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236829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06640" y="2697480"/>
            <a:ext cx="457200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79" y="273405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KMM weighted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18320" y="273405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60" y="273405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−4.6%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406640" y="3063240"/>
            <a:ext cx="457200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79" y="309981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DRST (τ=0.30)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309981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2.019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309981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−5.3%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06640" y="3429000"/>
            <a:ext cx="4572000" cy="365760"/>
          </a:xfrm>
          <a:prstGeom prst="rect">
            <a:avLst/>
          </a:prstGeom>
          <a:solidFill>
            <a:srgbClr val="E8F5E9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79" y="3465576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</a:rPr>
              <a:t>Prior FT  ★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465576"/>
            <a:ext cx="10058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1.907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3465576"/>
            <a:ext cx="14630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−10.6%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4114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OOD robustness (unseen lit)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4526280"/>
            <a:ext cx="457200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98079" y="4553712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0" y="4553712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OOD RMSE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06640" y="4892040"/>
            <a:ext cx="4572000" cy="384048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79" y="4937760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Baseline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241280" y="4937760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6.53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5276088"/>
            <a:ext cx="4572000" cy="384048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98079" y="5321808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5E20"/>
                </a:solidFill>
              </a:rPr>
              <a:t>Prior FT  ★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5321808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B5E20"/>
                </a:solidFill>
              </a:rPr>
              <a:t>3.60  (−45%)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7607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50596E"/>
                </a:solidFill>
              </a:rPr>
              <a:t>OOD: 2,139 non-Impregnation lit samples, unseen.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SHAP — Did the Model Learn Real Chemistry?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10 / 13</a:t>
            </a:r>
          </a:p>
        </p:txBody>
      </p:sp>
      <p:pic>
        <p:nvPicPr>
          <p:cNvPr id="8" name="Picture 7" descr="fig_shap_beeswa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43000"/>
            <a:ext cx="6217920" cy="5854269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675120" y="1143000"/>
            <a:ext cx="521208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12280" y="1170432"/>
            <a:ext cx="4937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Top findings (3,000 sample subsample)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1627632"/>
            <a:ext cx="5120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#1: lit_prior_prediction — transfer is genuinely used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2011680"/>
            <a:ext cx="5120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Temperature — strong positive, T↑ → C₂↑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2395728"/>
            <a:ext cx="5120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Ba, Mn, La, Ce — known OCM active phases / promoters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20840" y="2779776"/>
            <a:ext cx="512064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 Li, K — mixed / suppressive effect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657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F1E42"/>
                </a:solidFill>
              </a:rPr>
              <a:t>Residual pattern (ceiling effect)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75120" y="4069080"/>
            <a:ext cx="5212080" cy="384048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12280" y="4096512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Y(C₂) range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096512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RMSE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4453128"/>
            <a:ext cx="521208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12280" y="4489704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0 – 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4489704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1.43 – 1.48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0" y="4818888"/>
            <a:ext cx="521208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4855464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6 – 10%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4855464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1.95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0" y="5184648"/>
            <a:ext cx="5212080" cy="36576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12280" y="5221224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10 – 15%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84080" y="5221224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1A1A2E"/>
                </a:solidFill>
              </a:rPr>
              <a:t>2.58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0" y="5550408"/>
            <a:ext cx="5212080" cy="365760"/>
          </a:xfrm>
          <a:prstGeom prst="rect">
            <a:avLst/>
          </a:prstGeom>
          <a:solidFill>
            <a:srgbClr val="FFEBEB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12280" y="5586984"/>
            <a:ext cx="2743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8B1A1A"/>
                </a:solidFill>
              </a:rPr>
              <a:t>&gt; 15%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5586984"/>
            <a:ext cx="18288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8B1A1A"/>
                </a:solidFill>
              </a:rPr>
              <a:t>4.70  (−4.2 pp bias)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589788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50596E"/>
                </a:solidFill>
              </a:rPr>
              <a:t>Root cause: GHSV, CH₄/O₂ ratio, pressure absent from dataset — a data limit, not a model failure.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Critical Analysis — Per-Method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11 /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2344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Honest critique of each method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664208"/>
            <a:ext cx="6400800" cy="36576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691640"/>
            <a:ext cx="1645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Method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91640"/>
            <a:ext cx="44805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Main limitation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029968"/>
            <a:ext cx="6400800" cy="530352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075688"/>
            <a:ext cx="1645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Naive merge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2075688"/>
            <a:ext cx="448056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Negative control — makes the model worse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596896"/>
            <a:ext cx="6400800" cy="530352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642616"/>
            <a:ext cx="1645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DRST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2642616"/>
            <a:ext cx="448056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Hard cliff; discards ~80%; τ tuned on the reported CV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163824"/>
            <a:ext cx="6400800" cy="530352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209544"/>
            <a:ext cx="1645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1A2E"/>
                </a:solidFill>
              </a:rPr>
              <a:t>KMM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48840" y="3209544"/>
            <a:ext cx="448056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O(n²) kernel; σ-sensitive; labels still in loss; ties DRST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730752"/>
            <a:ext cx="6400800" cy="530352"/>
          </a:xfrm>
          <a:prstGeom prst="rect">
            <a:avLst/>
          </a:prstGeom>
          <a:solidFill>
            <a:srgbClr val="E8F5E9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776472"/>
            <a:ext cx="164592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B5E20"/>
                </a:solidFill>
              </a:rPr>
              <a:t>Prior 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3776472"/>
            <a:ext cx="4480560" cy="457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B5E20"/>
                </a:solidFill>
              </a:rPr>
              <a:t>Best — Stage-1 on 782 rows → high variance; two models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40880" y="1234440"/>
            <a:ext cx="4846320" cy="384048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78040" y="1261872"/>
            <a:ext cx="45720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Cross-cutting limits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1719072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•  All methods evaluated on our-data CV only; OOD tested for Prior FT alone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86600" y="2103120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•  Point predictions — no uncertainty estimates to guide experiment selection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2487168"/>
            <a:ext cx="475488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•  Y&gt;15% ceiling is DATA-bound (missing GHSV, CH₄:O₂, pressure), not model-bound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040880" y="3063240"/>
            <a:ext cx="4846320" cy="868680"/>
          </a:xfrm>
          <a:prstGeom prst="rect">
            <a:avLst/>
          </a:prstGeom>
          <a:solidFill>
            <a:srgbClr val="E8F5FF"/>
          </a:solidFill>
          <a:ln w="9525">
            <a:solidFill>
              <a:srgbClr val="0078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50608" y="3136392"/>
            <a:ext cx="4626864" cy="7223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Key insight: the ceiling effect and much of the label shift share the same root cause — missing operating-condition features. Fix the data; the models follow.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What's Next — Priority-Ordered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BBCCEE"/>
                </a:solidFill>
              </a:rPr>
              <a:t>Chapter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12 / 13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325880"/>
            <a:ext cx="5669280" cy="1417320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417320"/>
            <a:ext cx="329184" cy="32918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35608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141732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B5E20"/>
                </a:solidFill>
              </a:rPr>
              <a:t>Add GHSV, CH₄:O₂, pressure to the feature 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828800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Fixes the Y&gt;15% ceiling and likely resolves much of the label shift too.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417320"/>
            <a:ext cx="1554480" cy="27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9120" y="1435608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Highest impact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834639"/>
            <a:ext cx="5669280" cy="141732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926079"/>
            <a:ext cx="329184" cy="32918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944367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926079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Bag the Stage-1 expert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3337559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Ensemble of XGBoost models reduces high variance from only 782 training samples.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343400"/>
            <a:ext cx="5669280" cy="141732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434840"/>
            <a:ext cx="329184" cy="32918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453128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43484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Add uncertainty quantification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46320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Conformal prediction or quantile regression — flag low-confidence picks for the experiment loop.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1325880"/>
            <a:ext cx="5669280" cy="141732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55080" y="1417320"/>
            <a:ext cx="329184" cy="32918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435608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66560" y="141732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Stack DRST + KMM inside Prior 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1828800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Run them as one integrated pipeline rather than three separate methods.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63640" y="2834639"/>
            <a:ext cx="5669280" cy="141732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55080" y="2926079"/>
            <a:ext cx="329184" cy="32918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2944367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2926079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Neural domain adaptation (DANN, CORAL)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3337559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More powerful once the feature set is richer — currently under-powered.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63640" y="4343400"/>
            <a:ext cx="5669280" cy="1417320"/>
          </a:xfrm>
          <a:prstGeom prst="rect">
            <a:avLst/>
          </a:prstGeom>
          <a:solidFill>
            <a:srgbClr val="F5F6F8"/>
          </a:solidFill>
          <a:ln w="9525">
            <a:solidFill>
              <a:srgbClr val="D0D5D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55080" y="4434840"/>
            <a:ext cx="329184" cy="329184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4453128"/>
            <a:ext cx="237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4434840"/>
            <a:ext cx="5074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F1E42"/>
                </a:solidFill>
              </a:rPr>
              <a:t>Close the active-learning loop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66560" y="4846320"/>
            <a:ext cx="5074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50596E"/>
                </a:solidFill>
              </a:rPr>
              <a:t>Model proposes → lab measures → model retrains. Reduces label shift over time.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68680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5743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F1E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6528816"/>
            <a:ext cx="118231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OCM Dataset Integration   |   Slide 13 / 13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1280160"/>
            <a:ext cx="10332720" cy="4206240"/>
          </a:xfrm>
          <a:prstGeom prst="rect">
            <a:avLst/>
          </a:prstGeom>
          <a:solidFill>
            <a:srgbClr val="F5F6F8"/>
          </a:solidFill>
          <a:ln w="9525">
            <a:solidFill>
              <a:srgbClr val="0F1E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141732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What we asked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783080"/>
            <a:ext cx="9966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0596E"/>
                </a:solidFill>
              </a:rPr>
              <a:t>Can published OCM literature improve a lab-data model without harming it?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377440"/>
            <a:ext cx="9966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F1E42"/>
                </a:solidFill>
              </a:rPr>
              <a:t>What we learned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78892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Naive merging HARMS accuracy (+5.4% RMSE) — the systematic offset corrupts training.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315468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Selective filtering (DRST / KMM) recovers about 5% improvement — independent methods agree (r=0.79).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52044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Using literature as a PRIOR FEATURE (not a label) gives the biggest gain: −10.6% CV, −45% OOD.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886200"/>
            <a:ext cx="9784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2E"/>
                </a:solidFill>
              </a:rPr>
              <a:t>•  SHAP confirms the model uses real OCM chemistry: temperature, Ba, Mn, La, Ce, and the literature prior drive predictions.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623560"/>
            <a:ext cx="10332720" cy="777240"/>
          </a:xfrm>
          <a:prstGeom prst="rect">
            <a:avLst/>
          </a:prstGeom>
          <a:solidFill>
            <a:srgbClr val="E8F5E9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5696712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5E20"/>
                </a:solidFill>
              </a:rPr>
              <a:t>Next step that matters most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6035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B5E20"/>
                </a:solidFill>
              </a:rPr>
              <a:t>Add GHSV and CH₄:O₂ to the feature set — the high-yield ceiling is data-bound, not model-bound.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