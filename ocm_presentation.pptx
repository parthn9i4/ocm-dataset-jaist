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88952" cy="5486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DD"/>
                </a:solidFill>
              </a:rPr>
              <a:t>JAIST — Taniike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Integrating OCM Literature Data
into Lab-Scale ML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BBEE"/>
                </a:solidFill>
              </a:rPr>
              <a:t>A Walkthrough of Five Transfer-Learning Approaches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977639"/>
            <a:ext cx="3959352" cy="36576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Partha Nupam 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9BB"/>
                </a:solidFill>
              </a:rPr>
              <a:t>June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Problem — Two Datasets, Three Systematic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2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486400" cy="2377440"/>
          </a:xfrm>
          <a:prstGeom prst="rect">
            <a:avLst/>
          </a:prstGeom>
          <a:solidFill>
            <a:srgbClr val="E8F4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Our Lab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89,074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Impregnation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5.25%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Fixed, one 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097280"/>
            <a:ext cx="5486400" cy="2377440"/>
          </a:xfrm>
          <a:prstGeom prst="rect">
            <a:avLst/>
          </a:prstGeom>
          <a:solidFill>
            <a:srgbClr val="FFF5E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097280"/>
            <a:ext cx="54864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Published Literature (≤2019)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3,852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1982 – 2019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15+ 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8.67%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40 years of diverse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0F1E42"/>
                </a:solidFill>
              </a:rPr>
              <a:t>Can we use literature to improve our model — without hurting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114800"/>
            <a:ext cx="2468880" cy="384048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1330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1. Label shift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151376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mean is 3.42 pp higher (t = −32.2, p &lt; 10⁻²⁰⁰) — a systematic offset from publication bias and optimised conditions.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681728"/>
            <a:ext cx="24688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7000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2. Covariate shift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71800" y="4718304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78.5% of literature samples describe chemistry our lab has never tested.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48656"/>
            <a:ext cx="246888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26694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3. Publication bias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528523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is skewed, not just shifted — failed experiments are rarely reported, over-weighting high yields.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70448"/>
            <a:ext cx="11430000" cy="621792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943600"/>
            <a:ext cx="112105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Why ML? The catalyst search space (65 elements × varying loadings × temperature) is too large to screen physically. A surrogate model guides experiments toward high-yield compositions.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Setup — Label Shift &amp; Covariate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3 / 16</a:t>
            </a:r>
          </a:p>
        </p:txBody>
      </p:sp>
      <p:pic>
        <p:nvPicPr>
          <p:cNvPr id="8" name="Picture 7" descr="fig_walkthrough_label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229600" cy="24251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78240" y="1005840"/>
            <a:ext cx="310896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033271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Two panels, two shifts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813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Left: yield KDE — blue peaks 3–4%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8470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peaks 8–9% (3.42 pp gap)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Red band = systematic gap (t = −32.2)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78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right tail = publication-bias skew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443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Right: PCA of 67 features → 2D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3101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outside blue = 78.5% OOD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3794760"/>
            <a:ext cx="3108960" cy="8229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7968" y="3867912"/>
            <a:ext cx="288950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3A00"/>
                </a:solidFill>
              </a:rPr>
              <a:t>Both signals — yield level AND chemistry composition — warn against naive concatenation (confirmed 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Setup — Which Elements Differ?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4 / 16</a:t>
            </a:r>
          </a:p>
        </p:txBody>
      </p:sp>
      <p:pic>
        <p:nvPicPr>
          <p:cNvPr id="8" name="Picture 7" descr="fig_element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229600" cy="287657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78240" y="1005840"/>
            <a:ext cx="3108960" cy="3657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033271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Reading the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813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Top 15 elements by usage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8470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dominant elements each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active phases &amp; promoters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78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Our lab: focused 2025 programme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443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Literature: 40 yrs, many groups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0" y="3520440"/>
            <a:ext cx="3108960" cy="8229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3593592"/>
            <a:ext cx="288950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This is what '78.5% out-of-distribution' looks like in plain terms — literally different elements and preparation methods.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48056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Selective filtering methods keep only literature whose element profile resembles our experimental programme.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How We Measure Success — Asymmetric 5-Fold 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400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2471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validation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5544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Our 89,074 samples split into 5 folds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Training fold = 4/5 of our data + any 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860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Validation fold = 1/5 of our data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51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Literature never appears in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64008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6499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asymmetric?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94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question: how well does the model predict OUR experiments?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605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Mixing literature into validation would dilute the answer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Same CV harness used for every method — only training data changes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097280"/>
            <a:ext cx="4846320" cy="128016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Metric: RMSE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16002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in units of percentage points of C₂ yield.
An RMSE of 2.1 means typical error ≈ 2 pp.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5-fold split (our data, n=89,074)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1
train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2
train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063240"/>
            <a:ext cx="914400" cy="77724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3
VAL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4
train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8136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5
train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0596E"/>
                </a:solidFill>
              </a:rPr>
              <a:t>+ literature (training only, never validation)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40880" y="4572000"/>
            <a:ext cx="4846320" cy="73152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0608" y="4645152"/>
            <a:ext cx="46268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Repeat 5 times, rotating which fold is the validation set. Report mean RMSE ± std.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Baseline + Why Naive Merging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1 — establish baseline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733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733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756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 (our data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756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06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Number every method must beat.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46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2 — try the obvious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307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7307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873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33087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133087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44568"/>
            <a:ext cx="5669280" cy="457200"/>
          </a:xfrm>
          <a:prstGeom prst="rect">
            <a:avLst/>
          </a:prstGeom>
          <a:solidFill>
            <a:srgbClr val="FFEBEB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902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Naive merge (3,852 lit rows)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902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206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8B1A1A"/>
                </a:solidFill>
              </a:rPr>
              <a:t>+5.4% worse than baseline.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18872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2161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did it fail?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572768"/>
            <a:ext cx="5486400" cy="246888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16916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Model sees two catalysts with nearly identical composition: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0574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5.2%  (our lab)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423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8.7%  (literature)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834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No feature explains the gap — flow rate, gas ratio, etc. are absent. The model hedges and predicts both badly.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977639"/>
            <a:ext cx="5486400" cy="17373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050791"/>
            <a:ext cx="526694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3A00"/>
                </a:solidFill>
              </a:rPr>
              <a:t>The 3.42 pp offset is a SYSTEMATIC signal the model cannot account for — and incorrectly tries to fit. Mixing the two datasets can perform WORSE than using ours alone.
⇒ We need to be much more selective.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DRST — Filtering by Chemical Similarity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7 / 16</a:t>
            </a:r>
          </a:p>
        </p:txBody>
      </p:sp>
      <p:pic>
        <p:nvPicPr>
          <p:cNvPr id="8" name="Picture 7" descr="fig_drst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315200" cy="2647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0596E"/>
                </a:solidFill>
              </a:rPr>
              <a:t>Histogram of P(ours | x) for every literature sample.  Dashed lines = candidate thresholds.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143000"/>
            <a:ext cx="4114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17043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6002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Train logistic classifier: ours=1, lit=0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9659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Score each lit sample: P(ours |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331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Keep samples scoring ≥ 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788920"/>
            <a:ext cx="4114800" cy="5943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8" y="2862072"/>
            <a:ext cx="389534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P(ours | x) is a similarity score: high = looks like our chemistry, low = foreign. We keep only literature scoring above 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474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Threshold sweep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886200"/>
            <a:ext cx="41148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3913632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91363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3913632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25196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428853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28853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1168 kept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428853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461772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465429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65429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987 kept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465429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983480"/>
            <a:ext cx="411480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60" y="502005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τ = 0.30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502005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782 kept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02005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2.019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534924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9560" y="538581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38581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543 kept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5385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806440"/>
            <a:ext cx="4114800" cy="658368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82128" y="5879592"/>
            <a:ext cx="389534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Unsolved: hard cutoff is arbitrary — a sample at 0.29 is fully discarded; 0.31 gets full weight.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KMM — Soft Weights Instead of a Hard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8 / 16</a:t>
            </a:r>
          </a:p>
        </p:txBody>
      </p:sp>
      <p:pic>
        <p:nvPicPr>
          <p:cNvPr id="8" name="Picture 7" descr="fig_kmm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909560" cy="162140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480" y="1143000"/>
            <a:ext cx="34747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1704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600200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Each lit sample gets weight wᵢ ∈ [0, 10]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947672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RBF kernel: K(x,x′) = exp(−‖x−x′‖²/2σ²)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295144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Solve QP:  ½ wᵀK_ss w − κᵀw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642616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σ via median heuristic (parameter-free)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063240"/>
            <a:ext cx="3474720" cy="566928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3136392"/>
            <a:ext cx="32552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KMM picks weights so the weighted literature cloud matches our data cloud. Samples inside our chemistry earn weight; those outside fade to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307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4114800"/>
            <a:ext cx="34747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416052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KMM CV 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416052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480560"/>
            <a:ext cx="3474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45262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Δ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452628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846320"/>
            <a:ext cx="34747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489204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Near-zero weights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4892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78.5%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5212080"/>
            <a:ext cx="3474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525780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Agreement w/ DRST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525780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r = 0.79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5669280"/>
            <a:ext cx="347472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22208" y="5742432"/>
            <a:ext cx="32552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Reassuring: two unrelated methods flag the same 78.5% of samples ⇒ real signal, not artifact.
Still unsolved: literature labels remain in training, so the 3.42 pp offset still bleeds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Prior Feature Transfer — The Winning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C8"/>
                </a:solidFill>
              </a:rPr>
              <a:t>STAGE 1 — Pre-train on Literature Chemistry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5661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STAGE 2 — Fine-tune on Our Labels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2286000" cy="914400"/>
          </a:xfrm>
          <a:prstGeom prst="rect">
            <a:avLst/>
          </a:prstGeom>
          <a:solidFill>
            <a:srgbClr val="CCE0FF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3,852 samples
(DRST filtered)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108960" y="1554480"/>
            <a:ext cx="2286000" cy="914400"/>
          </a:xfrm>
          <a:prstGeom prst="rect">
            <a:avLst/>
          </a:prstGeom>
          <a:solidFill>
            <a:srgbClr val="0078C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XGBoost
pre-train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852160" y="1554480"/>
            <a:ext cx="2286000" cy="914400"/>
          </a:xfrm>
          <a:prstGeom prst="rect">
            <a:avLst/>
          </a:prstGeom>
          <a:solidFill>
            <a:srgbClr val="F59E0B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lit_prior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prediction
(68th feature)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23360"/>
            <a:ext cx="2286000" cy="914400"/>
          </a:xfrm>
          <a:prstGeom prst="rect">
            <a:avLst/>
          </a:prstGeom>
          <a:solidFill>
            <a:srgbClr val="CCE8D0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Our Lab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5E20"/>
                </a:solidFill>
              </a:rPr>
              <a:t>89,074 samples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517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108960" y="4023360"/>
            <a:ext cx="2286000" cy="914400"/>
          </a:xfrm>
          <a:prstGeom prst="rect">
            <a:avLst/>
          </a:prstGeom>
          <a:solidFill>
            <a:srgbClr val="E0E8F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Append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68th feature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949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852160" y="4023360"/>
            <a:ext cx="2286000" cy="914400"/>
          </a:xfrm>
          <a:prstGeom prst="rect">
            <a:avLst/>
          </a:prstGeom>
          <a:solidFill>
            <a:srgbClr val="10B981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LightGBM
our labels only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381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595360" y="4023360"/>
            <a:ext cx="2286000" cy="914400"/>
          </a:xfrm>
          <a:prstGeom prst="rect">
            <a:avLst/>
          </a:prstGeom>
          <a:solidFill>
            <a:srgbClr val="0F1E42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Y(C₂) %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251960.0" y="2468880"/>
            <a:ext cx="2743200.0" cy="1554480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5166360"/>
            <a:ext cx="114300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303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Key property — literature enters as a feature, not a label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961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Stage 2 NEVER sees literature labels. The 3.42 pp offset affects the VALUE of the 68th feature — which Stage 2 can calibrate: "when the expert says 8, my lab gets ~4.5". It does NOT corrupt the training loss, which it could not fix. A corrupted label can't be un-corrupted; a feature value is just another thing to learn around. Stage 1 uses XGBoost (conservative on 782 rows); Stage 2 uses LightGBM (fast on 89,074 rows).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Results — All Five Methods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10 / 16</a:t>
            </a:r>
          </a:p>
        </p:txBody>
      </p:sp>
      <p:pic>
        <p:nvPicPr>
          <p:cNvPr id="8" name="Picture 7" descr="fig_walkthroug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589520" cy="3329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188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Cross-validation (our data)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00200"/>
            <a:ext cx="38404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27632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162763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6276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965960"/>
            <a:ext cx="384048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0253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1A1A"/>
                </a:solidFill>
              </a:rPr>
              <a:t>Naive 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20025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200253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+5.4%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331720"/>
            <a:ext cx="38404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36829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3682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236829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697480"/>
            <a:ext cx="38404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273405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KMM weighted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73405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273405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063240"/>
            <a:ext cx="38404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09981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DRST (τ=0.30)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099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309981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−5.3%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3429000"/>
            <a:ext cx="384048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46557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346557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1.907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346557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−10.6%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4114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OOD — leak-free (unseen lit)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4526280"/>
            <a:ext cx="38404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455371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4553712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OOD RMSE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892040"/>
            <a:ext cx="384048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493776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4937760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6.53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5276088"/>
            <a:ext cx="384048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532180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Prior 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5321808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6.77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571500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96E"/>
                </a:solidFill>
              </a:rPr>
              <a:t>OOD gain is modest &amp; honest.  Earlier “3.60 (−45%)” was leakage (prior saw test rows).  QN trades OOD for in-dist accuracy — see Rigour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Feature Importance Beeswarm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11 / 16</a:t>
            </a:r>
          </a:p>
        </p:txBody>
      </p:sp>
      <p:pic>
        <p:nvPicPr>
          <p:cNvPr id="8" name="Picture 7" descr="fig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686800" cy="81787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50596E"/>
                </a:solidFill>
              </a:rPr>
              <a:t>TreeExplainer on 3,000-sample subsample.  Each row = feature ranked by mean |SHAP|.  Colour = feature value (red=high);  x-position = prediction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1097280"/>
            <a:ext cx="265176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124712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591056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 — transfer 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993392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 ↑ → yield ↑ (correct OCM)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395728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Ce: net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798064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K: mixed / suppressive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3291840"/>
            <a:ext cx="2651760" cy="68580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45168" y="3364992"/>
            <a:ext cx="243230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The model uses real OCM chemistry — transfer learning is not dead weight.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4206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See next slide for residual breakdown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Ceiling Effect &amp; Model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Residual breakdown by yield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3035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Y(C₂)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62763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84248"/>
            <a:ext cx="5303520" cy="47548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574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0 – 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574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1.43 – 1.48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59736"/>
            <a:ext cx="53035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53288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 – 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5328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35224"/>
            <a:ext cx="5303520" cy="47548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0837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10 – 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0083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2.58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5303520" cy="475488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48386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1A1A"/>
                </a:solidFill>
              </a:rPr>
              <a:t>&gt; 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483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4.70  (−4.2 pp bias)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023360"/>
            <a:ext cx="5303520" cy="77724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096512"/>
            <a:ext cx="50840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3A00"/>
                </a:solidFill>
              </a:rPr>
              <a:t>Root cause: GHSV, CH₄/O₂ ratio, pressure absent from the feature set — a data limit, not a model failure.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188720"/>
            <a:ext cx="576072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216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SHAP confirmed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1691640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lit_prior_prediction — transfer learning actively used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2093976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Temperature: high T → yield up (correct OCM physics)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496312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 — known active phases and promoters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2898648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 — mixed / suppressive (can over-reduce surface)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657600"/>
            <a:ext cx="5760720" cy="100584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8" y="3730752"/>
            <a:ext cx="5541264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The ceiling is NOT a modelling failure — it is a DATA failure.
Missing columns (GHSV, CH₄:O₂, pressure) explain why Y&gt;15% catalysts exist.
No algorithm can compensate for absent input features.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80060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Fix the data → the model automatically improves.  That is the single highest-impact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Statistical Rigour &amp;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Repeatable across 10 random seeds</a:t>
            </a:r>
          </a:p>
        </p:txBody>
      </p:sp>
      <p:pic>
        <p:nvPicPr>
          <p:cNvPr id="9" name="Picture 8" descr="fig_repeated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8760"/>
            <a:ext cx="5852160" cy="2243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160520"/>
            <a:ext cx="5852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Baseline 2.121 ± 0.006  vs  PFT 1.909 ± 0.002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44568"/>
            <a:ext cx="5852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PFT wins 10 / 10 runs — curves never cross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928616"/>
            <a:ext cx="5852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Paired t  p = 3.9×10⁻¹⁵;  held-out 20%: 2.097 → 1.892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Quantile normalisation is a trade-off</a:t>
            </a:r>
          </a:p>
        </p:txBody>
      </p:sp>
      <p:pic>
        <p:nvPicPr>
          <p:cNvPr id="14" name="Picture 13" descr="fig_qn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08760"/>
            <a:ext cx="5577840" cy="22311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09360" y="3977639"/>
            <a:ext cx="5577840" cy="1280160"/>
          </a:xfrm>
          <a:prstGeom prst="rect">
            <a:avLst/>
          </a:prstGeom>
          <a:solidFill>
            <a:srgbClr val="FFF4E5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050791"/>
            <a:ext cx="53583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Honest correction: the earlier “OOD 6.53→3.60 (−45%)” was data leakage — the prior was trained on the OOD test rows. Leak-free OOD is ≈6.0–6.8 (near baseline). QN improves in-distribution accuracy but slightly worsens OOD.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Critical Analysis — Per-Method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Honest critique of each method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64208"/>
            <a:ext cx="64008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91640"/>
            <a:ext cx="4480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Main limitation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75688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Naive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075688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Negative control — makes the model worse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96896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42616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DRST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642616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Hard cliff; discards ~80%; τ tuned on the reported CV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63824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09544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KMM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209544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O(n²) kernel; σ-sensitive; labels still in loss; ties DRST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30752"/>
            <a:ext cx="6400800" cy="53035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76472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5E20"/>
                </a:solidFill>
              </a:rPr>
              <a:t>Prior 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3776472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20"/>
                </a:solidFill>
              </a:rPr>
              <a:t>Best — Stage-1 on 782 rows → high variance; two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234440"/>
            <a:ext cx="484632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126187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Cross-cutting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1719072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All methods evaluated on our-data CV only; OOD tested for Prior FT 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10312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Point predictions — no uncertainty estimates to guide experiment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487168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Y&gt;15% ceiling is DATA-bound (missing GHSV, CH₄:O₂, pressure), not model-bound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063240"/>
            <a:ext cx="4846320" cy="86868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3136392"/>
            <a:ext cx="462686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Key insight: the ceiling effect and much of the label shift share the same root cause — missing operating-condition features. Fix the data; the models follow.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What's Next — Priority-Ordered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5669280" cy="141732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29184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</a:rPr>
              <a:t>Add GHSV, CH₄:O₂, pressure to the feature 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Fixes the Y&gt;15% ceiling and likely resolves much of the label shift too.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417320"/>
            <a:ext cx="155448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3560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Highest impact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34639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26079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Bag the Stage-1 expert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Ensemble of XGBoost models reduces high variance from only 782 training samples.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Add uncertainty quantification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Conformal prediction or quantile regression — flag low-confidence picks for the experiment loop.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32588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141732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Stack DRST + KMM inside Prior 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Run them as one integrated pipeline rather than three separate methods.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834639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2926079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Neural domain adaptation (DANN, CORAL)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More powerful once the feature set is richer — currently under-powered.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Close the active-learning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Model proposes → lab measures → model retrains. Reduces label shift over time.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10332720" cy="420624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173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asked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8308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Can published OCM literature improve a lab-data model without harming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Naive merging HARMS accuracy (+5.4% RMSE) — the systematic offset corrupts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Selective filtering (DRST / KMM) recovers about 5% improvement — independent methods agree (r=0.79).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04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Using literature as a PRIOR FEATURE (not a label) gives the biggest gain: −10.6% CV, confirmed 10/10 seeds (p&lt;10⁻¹⁴) and on a held-out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8620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SHAP confirms the model uses real OCM chemistry: temperature, Ba, Mn, La, Ce, and the literature prior drive predictions.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Next step that matters most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Add GHSV and CH₄:O₂ to the feature set — the high-yield ceiling is data-bound, not model-bound.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