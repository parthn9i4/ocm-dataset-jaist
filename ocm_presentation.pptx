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(≤2019)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Literature mean is 3.42 pp higher (t = −32.2, p &lt; 10⁻²⁰⁰) — a real systematic offset, not noise.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54880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77316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79145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394960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54132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43153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Papers report only successful runs — the literature distribution is skewed, not just shifted.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Visualising the Gap — Label Shift, Covariate Shift, Chemistry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12</a:t>
            </a:r>
          </a:p>
        </p:txBody>
      </p:sp>
      <p:pic>
        <p:nvPicPr>
          <p:cNvPr id="7" name="Picture 6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589520" cy="2236570"/>
          </a:xfrm>
          <a:prstGeom prst="rect">
            <a:avLst/>
          </a:prstGeom>
        </p:spPr>
      </p:pic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69080"/>
            <a:ext cx="7589520" cy="265284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38160" y="1005840"/>
            <a:ext cx="3749039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033271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Top: label &amp; covariate shift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46304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3.42 pp mean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4708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tail = publication-bias skew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23113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PCA: orange spreads outside blue cluster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4069080"/>
            <a:ext cx="3749039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096512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Bottom: which elements differ?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52628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/ promoters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91032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Concrete chemistry, not abstract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29437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Justifies selective filtering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760720"/>
            <a:ext cx="3749039" cy="64008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5833872"/>
            <a:ext cx="35295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These three figures jointly forecast that naive concatenation will harm the model — confirmed on slide 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our data + any 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our data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(our data, n=89,074)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(our data 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160520"/>
            <a:ext cx="5486400" cy="14630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33672"/>
            <a:ext cx="526694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3A00"/>
                </a:solidFill>
              </a:rPr>
              <a:t>The 3.42 pp offset is a SYSTEMATIC signal the model cannot account for — and incorrectly tries to fit.
⇒ We need to be much more selective.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12</a:t>
            </a:r>
          </a:p>
        </p:txBody>
      </p:sp>
      <p:pic>
        <p:nvPicPr>
          <p:cNvPr id="7" name="Picture 6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583680" cy="23829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41148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143000"/>
            <a:ext cx="47548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17043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6002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classifier:  ours=1, lit=0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65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 P(ours | 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926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3337560"/>
            <a:ext cx="47548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336499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6499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336499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703320"/>
            <a:ext cx="47548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7398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7398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37398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4087368"/>
            <a:ext cx="47548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12394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12394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412394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471416"/>
            <a:ext cx="4754880" cy="384048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450799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τ = 0.30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50799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782 kept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50799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2.019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4855464"/>
            <a:ext cx="47548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9480" y="4892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8920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4892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532120"/>
            <a:ext cx="4754880" cy="7772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5605272"/>
            <a:ext cx="453542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12</a:t>
            </a:r>
          </a:p>
        </p:txBody>
      </p:sp>
      <p:pic>
        <p:nvPicPr>
          <p:cNvPr id="7" name="Picture 6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142458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143000"/>
            <a:ext cx="43891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17043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600200"/>
            <a:ext cx="4297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984248"/>
            <a:ext cx="4297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368296"/>
            <a:ext cx="4297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 σ via median heuristic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926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310128"/>
            <a:ext cx="4389120" cy="4114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36499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336499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3721608"/>
            <a:ext cx="43891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377647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377647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133088"/>
            <a:ext cx="4389120" cy="4114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418795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418795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4544568"/>
            <a:ext cx="43891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459943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5994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5074920"/>
            <a:ext cx="4389120" cy="128016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7807" y="5148072"/>
            <a:ext cx="41696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5760" y="5486400"/>
            <a:ext cx="11430000" cy="91440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5955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Stage 2 NEVER sees literature labels. The prior enters as one input feature, so the 3.42 pp offset becomes a calibration problem Stage 2 can learn — not a corruption of the loss.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12</a:t>
            </a:r>
          </a:p>
        </p:txBody>
      </p:sp>
      <p:pic>
        <p:nvPicPr>
          <p:cNvPr id="7" name="Picture 6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3048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(our 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62763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1627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965960"/>
            <a:ext cx="457200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200253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2002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3172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3682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2368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697480"/>
            <a:ext cx="45720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7340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weighted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734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06324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09981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(τ=0.30)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3099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−5.3%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29000"/>
            <a:ext cx="457200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34655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46557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robustness (unseen lit)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452628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45537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553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06640" y="4892040"/>
            <a:ext cx="457200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493776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49377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5276088"/>
            <a:ext cx="4572000" cy="384048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532180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53218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3.60  (−45%)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OOD: 2,139 non-Impregnation lit samples, unseen.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Did the Model Learn Real Chemistry?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12</a:t>
            </a:r>
          </a:p>
        </p:txBody>
      </p:sp>
      <p:pic>
        <p:nvPicPr>
          <p:cNvPr id="7" name="Picture 6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217920" cy="58542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14300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17043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 findings (3,000 sample subsample)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27632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is genuinely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11680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 — strong positive, T↑ → C₂↑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395728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OCM active phases / promoters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779776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Residual pattern (ceiling effect)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406908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965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0965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45312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48970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48970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4818888"/>
            <a:ext cx="52120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485546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85546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518464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522122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522122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5550408"/>
            <a:ext cx="52120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58698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5869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989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Root cause: GHSV, CH₄/O₂ ratio, pressure absent from dataset.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Limitations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A — Easy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Add reaction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Include GHSV, CH₄/O₂, and pressure as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Expected to fix the &gt;15% ceiling effect and reduce high-yield RMSE from 4.70 to ~2.5.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399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399" y="114300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B — 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Tune transfer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Sweep DRST τ and Stage 1 sample size jointly.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Current best: τ = 0.30 (782 samples). Grid search may recover 0.3–0.5% additional RMSE.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38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38" y="1143000"/>
            <a:ext cx="3749039" cy="41148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198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C — Hard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198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Neural domain adaptation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198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Replace LightGBM with DANN or CORAL.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198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High complexity — only justified after reaction conditions are added.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80560"/>
            <a:ext cx="5669280" cy="1828800"/>
          </a:xfrm>
          <a:prstGeom prst="rect">
            <a:avLst/>
          </a:prstGeom>
          <a:solidFill>
            <a:srgbClr val="F5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Limitations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37760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Missing GHSV / CH₄:O₂ / pressure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66944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Literature has 15+ prep methods — coverage uneven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96128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Publication bias: only successful experiments published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25312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OOD improvement may not generalise to new catalyst families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480560"/>
            <a:ext cx="5669280" cy="182880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Recommended Priority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937760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1. Collect GHSV + CH₄/O₂  (highest impact)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321808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2. Re-run Prior FT with expanded features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705856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3. Revisit τ tuning with updated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−45% 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