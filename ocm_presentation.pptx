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DD"/>
                </a:solidFill>
              </a:rPr>
              <a:t>JAIST — Taniike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Integrating OCM Literature Data
into Lab-Scale ML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9BBEE"/>
                </a:solidFill>
              </a:rPr>
              <a:t>A Walkthrough of Five Transfer-Learning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77639"/>
            <a:ext cx="3959352" cy="36576"/>
          </a:xfrm>
          <a:prstGeom prst="rect">
            <a:avLst/>
          </a:prstGeom>
          <a:solidFill>
            <a:srgbClr val="44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DFF"/>
                </a:solidFill>
              </a:rPr>
              <a:t>Partha Nupam 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BB"/>
                </a:solidFill>
              </a:rPr>
              <a:t>June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Problem — Two Datasets, Three Systematic Differences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2377440"/>
          </a:xfrm>
          <a:prstGeom prst="rect">
            <a:avLst/>
          </a:prstGeom>
          <a:solidFill>
            <a:srgbClr val="E8F4FF"/>
          </a:solidFill>
          <a:ln w="9525">
            <a:solidFill>
              <a:srgbClr val="0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486400" cy="38404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24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Our Lab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544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89,074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90195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942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24942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Impregnation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9689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Mean Y(C2)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968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5.25%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4436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Conditions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9443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Fixed, one 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097280"/>
            <a:ext cx="5486400" cy="2377440"/>
          </a:xfrm>
          <a:prstGeom prst="rect">
            <a:avLst/>
          </a:prstGeom>
          <a:solidFill>
            <a:srgbClr val="FFF5E8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097280"/>
            <a:ext cx="54864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124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Published Literature (≤2019)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5544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Samples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554480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3,852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0195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901952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1982 – 2019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4942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Preparation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249424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15+ methods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59689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Mean Y(C2)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596896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8.67%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4436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0596E"/>
                </a:solidFill>
              </a:rPr>
              <a:t>Conditions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29443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40 years of diverse labs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0F1E42"/>
                </a:solidFill>
              </a:rPr>
              <a:t>Can we use literature to improve our model — without hurting it?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14800"/>
            <a:ext cx="2468880" cy="38404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1330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1. Label shift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151376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Literature mean is 3.42 pp higher (t = −32.2, p &lt; 10⁻²⁰⁰) — a systematic offset from publication bias and optimised conditions.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681728"/>
            <a:ext cx="24688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7000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2. Covariate shift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4718304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78.5% of literature samples describe chemistry our lab has never tested.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48656"/>
            <a:ext cx="2468880" cy="38404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2669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 Publication bias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285232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Literature is skewed, not just shifted — failed experiments are rarely reported, over-weighting high yields.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870448"/>
            <a:ext cx="11430000" cy="621792"/>
          </a:xfrm>
          <a:prstGeom prst="rect">
            <a:avLst/>
          </a:prstGeom>
          <a:solidFill>
            <a:srgbClr val="F5F6F8"/>
          </a:solidFill>
          <a:ln w="9525">
            <a:solidFill>
              <a:srgbClr val="0F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5943600"/>
            <a:ext cx="1121054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Why ML? The catalyst search space (65 elements × varying loadings × temperature) is too large to screen physically. A surrogate model guides experiments toward high-yield compositions.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Visualising the Gap — Label Shift, Covariate Shift, Chemistry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3 / 12</a:t>
            </a:r>
          </a:p>
        </p:txBody>
      </p:sp>
      <p:pic>
        <p:nvPicPr>
          <p:cNvPr id="7" name="Picture 6" descr="fig_walkthrough_label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589520" cy="2236570"/>
          </a:xfrm>
          <a:prstGeom prst="rect">
            <a:avLst/>
          </a:prstGeom>
        </p:spPr>
      </p:pic>
      <p:pic>
        <p:nvPicPr>
          <p:cNvPr id="8" name="Picture 7" descr="fig_element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7589520" cy="26528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38160" y="1005840"/>
            <a:ext cx="3749039" cy="36576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033271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Top: label &amp; covariate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463040"/>
            <a:ext cx="3703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Red band = 3.42 pp mean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847088"/>
            <a:ext cx="3703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Orange tail = publication-bias skew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231136"/>
            <a:ext cx="3703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PCA: orange spreads outside blue cluster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4069080"/>
            <a:ext cx="3749039" cy="36576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Bottom: which elements differ?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526280"/>
            <a:ext cx="3703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Different active phases / promoters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910328"/>
            <a:ext cx="3703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Concrete chemistry, not abstract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294376"/>
            <a:ext cx="3703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Justifies selective filtering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5760720"/>
            <a:ext cx="3749039" cy="640080"/>
          </a:xfrm>
          <a:prstGeom prst="rect">
            <a:avLst/>
          </a:prstGeom>
          <a:solidFill>
            <a:srgbClr val="FFF0D8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5833872"/>
            <a:ext cx="35295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3A00"/>
                </a:solidFill>
              </a:rPr>
              <a:t>These three figures jointly forecast that naive concatenation will harm the model — confirmed on slide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How We Measure Success — Asymmetric 5-Fold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6400800" cy="384048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24712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validation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Our 89,074 samples split into 5 folds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Training fold = 4/5 of our data + any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Validation fold = 1/5 of our data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Literature never appears in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6400800" cy="38404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64992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asymmetric?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79476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The question: how well does the model predict OUR experiments?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6052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Mixing literature into validation would dilute the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52628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Same CV harness used for every method — only training data changes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097280"/>
            <a:ext cx="4846320" cy="1280160"/>
          </a:xfrm>
          <a:prstGeom prst="rect">
            <a:avLst/>
          </a:prstGeom>
          <a:solidFill>
            <a:srgbClr val="E8F5E9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Metric: RMSE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6002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in units of percentage points of C₂ yield.
An RMSE of 2.1 means typical error ≈ 2 pp.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E42"/>
                </a:solidFill>
              </a:rPr>
              <a:t>5-fold split (our data, n=89,074)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063240"/>
            <a:ext cx="914400" cy="7772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108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fold 1
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3063240"/>
            <a:ext cx="914400" cy="7772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108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fold 2
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063240"/>
            <a:ext cx="914400" cy="777240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fold 3
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3063240"/>
            <a:ext cx="914400" cy="7772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3108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fold 4
train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81360" y="3063240"/>
            <a:ext cx="914400" cy="777240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3108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fold 5
train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596E"/>
                </a:solidFill>
              </a:rPr>
              <a:t>+ literature (training only, never validation)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4572000"/>
            <a:ext cx="4846320" cy="731520"/>
          </a:xfrm>
          <a:prstGeom prst="rect">
            <a:avLst/>
          </a:prstGeom>
          <a:solidFill>
            <a:srgbClr val="F5F6F8"/>
          </a:solidFill>
          <a:ln w="9525">
            <a:solidFill>
              <a:srgbClr val="0F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8" y="4645152"/>
            <a:ext cx="46268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0596E"/>
                </a:solidFill>
              </a:rPr>
              <a:t>Repeat 5 times, rotating which fold is the validation set. Report mean RMSE ± std.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Baseline + Why Naive Merging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E42"/>
                </a:solidFill>
              </a:rPr>
              <a:t>Step 1 — establish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669280" cy="384048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733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7335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CV 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29968"/>
            <a:ext cx="566928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756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Baseline (our data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756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2.133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0596E"/>
                </a:solidFill>
              </a:rPr>
              <a:t>Number every method must beat.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46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E42"/>
                </a:solidFill>
              </a:rPr>
              <a:t>Step 2 — try the obvious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669280" cy="384048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307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3075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CV RMSE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87368"/>
            <a:ext cx="566928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33087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3308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2.133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44568"/>
            <a:ext cx="5669280" cy="457200"/>
          </a:xfrm>
          <a:prstGeom prst="rect">
            <a:avLst/>
          </a:prstGeom>
          <a:solidFill>
            <a:srgbClr val="FFEBEB"/>
          </a:solidFill>
          <a:ln w="9525">
            <a:solidFill>
              <a:srgbClr val="D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9028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Naive merge (3,852 lit rows)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5902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1A1A"/>
                </a:solidFill>
              </a:rPr>
              <a:t>2.248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8B1A1A"/>
                </a:solidFill>
              </a:rPr>
              <a:t>+5.4% worse than baseline.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188720"/>
            <a:ext cx="5486400" cy="384048"/>
          </a:xfrm>
          <a:prstGeom prst="rect">
            <a:avLst/>
          </a:prstGeom>
          <a:solidFill>
            <a:srgbClr val="00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2161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did it fail?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572768"/>
            <a:ext cx="5486400" cy="246888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Model sees two catalysts with nearly identical composition: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0574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One labelled 5.2%  (our lab)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423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One labelled 8.7%  (literature)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834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96E"/>
                </a:solidFill>
              </a:rPr>
              <a:t>No feature explains the gap — flow rate, gas ratio, etc. are absent. The model hedges and predicts both badly.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977639"/>
            <a:ext cx="5486400" cy="1737360"/>
          </a:xfrm>
          <a:prstGeom prst="rect">
            <a:avLst/>
          </a:prstGeom>
          <a:solidFill>
            <a:srgbClr val="FFF0D8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050791"/>
            <a:ext cx="526694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3A00"/>
                </a:solidFill>
              </a:rPr>
              <a:t>The 3.42 pp offset is a SYSTEMATIC signal the model cannot account for — and incorrectly tries to fit. Mixing the two datasets can perform WORSE than using ours alone.
⇒ We need to be much more selective.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DRST — Filtering by Chemical Similarity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6 / 12</a:t>
            </a:r>
          </a:p>
        </p:txBody>
      </p:sp>
      <p:pic>
        <p:nvPicPr>
          <p:cNvPr id="7" name="Picture 6" descr="fig_drs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583680" cy="23829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411480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0596E"/>
                </a:solidFill>
              </a:rPr>
              <a:t>Histogram of P(ours | x) for every literature sample.  Dashed lines = candidate thresholds.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143000"/>
            <a:ext cx="4754880" cy="384048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170432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6002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Train logistic classifier (finds element-space boundary):  ours=1, lit=0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Score each lit sample:  P(ours | 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3317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Keep samples scoring ≥ 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743200"/>
            <a:ext cx="4754880" cy="594360"/>
          </a:xfrm>
          <a:prstGeom prst="rect">
            <a:avLst/>
          </a:prstGeom>
          <a:solidFill>
            <a:srgbClr val="E8F5FF"/>
          </a:solidFill>
          <a:ln w="9525">
            <a:solidFill>
              <a:srgbClr val="0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816352"/>
            <a:ext cx="453542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0596E"/>
                </a:solidFill>
              </a:rPr>
              <a:t>The classifier's confidence P(ours | x) is a similarity score: high = looks like our chemistry, low = foreign. We keep only literature scoring above 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E42"/>
                </a:solidFill>
              </a:rPr>
              <a:t>Threshold sweep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840480"/>
            <a:ext cx="4754880" cy="36576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86791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679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86791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4206240"/>
            <a:ext cx="475488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42428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τ = 0.10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24281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1168 kept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424281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2.068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572000"/>
            <a:ext cx="475488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46085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τ = 0.20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60857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987 kept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460857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2.034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937760"/>
            <a:ext cx="475488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497433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τ = 0.30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97433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782 kept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497433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2.019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5303520"/>
            <a:ext cx="475488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534009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τ = 0.40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3400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543 kept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534009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2.045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5715000"/>
            <a:ext cx="4754880" cy="685800"/>
          </a:xfrm>
          <a:prstGeom prst="rect">
            <a:avLst/>
          </a:prstGeom>
          <a:solidFill>
            <a:srgbClr val="FFF0D8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2048" y="5788152"/>
            <a:ext cx="453542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3A00"/>
                </a:solidFill>
              </a:rPr>
              <a:t>Unsolved: hard cutoff is arbitrary — a sample at 0.29 is fully discarded; 0.31 gets full weight.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KMM — Soft Weights Instead of a Hard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7 / 12</a:t>
            </a:r>
          </a:p>
        </p:txBody>
      </p:sp>
      <p:pic>
        <p:nvPicPr>
          <p:cNvPr id="7" name="Picture 6" descr="fig_kmm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949440" cy="14245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98079" y="1143000"/>
            <a:ext cx="4389120" cy="384048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170432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600200"/>
            <a:ext cx="4297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Each lit sample gets weight wᵢ ∈ [0, 10]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47672"/>
            <a:ext cx="4297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RBF kernel similarity: K(x,x′) = exp(−‖x−x′‖²/2σ²)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295144"/>
            <a:ext cx="4297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Solve QP:  ½ wᵀK_ss w − κᵀw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642616"/>
            <a:ext cx="42976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σ via median heuristic (parameter-free)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3063240"/>
            <a:ext cx="4389120" cy="566928"/>
          </a:xfrm>
          <a:prstGeom prst="rect">
            <a:avLst/>
          </a:prstGeom>
          <a:solidFill>
            <a:srgbClr val="E8F5FF"/>
          </a:solidFill>
          <a:ln w="9525">
            <a:solidFill>
              <a:srgbClr val="0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7" y="3136392"/>
            <a:ext cx="41696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0596E"/>
                </a:solidFill>
              </a:rPr>
              <a:t>KMM picks weights so the weighted literature cloud matches our data cloud. Samples inside our chemistry earn weight; those outside fade to zero.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7307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E42"/>
                </a:solidFill>
              </a:rPr>
              <a:t>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4114800"/>
            <a:ext cx="438912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16052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KMM CV 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41605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2.035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480560"/>
            <a:ext cx="43891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452628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Δ vs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452628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−4.6%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4846320"/>
            <a:ext cx="438912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489204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Near-zero 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48920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78.5%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5212080"/>
            <a:ext cx="43891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525780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96E"/>
                </a:solidFill>
              </a:rPr>
              <a:t>Agreement w/ DRST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52578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r = 0.79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5669280"/>
            <a:ext cx="4389120" cy="777240"/>
          </a:xfrm>
          <a:prstGeom prst="rect">
            <a:avLst/>
          </a:prstGeom>
          <a:solidFill>
            <a:srgbClr val="F5F6F8"/>
          </a:solidFill>
          <a:ln w="9525">
            <a:solidFill>
              <a:srgbClr val="00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7807" y="5742432"/>
            <a:ext cx="416966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0596E"/>
                </a:solidFill>
              </a:rPr>
              <a:t>Reassuring: two unrelated methods flag the same 78.5% of samples ⇒ real signal, not artifact.
Still unsolved: literature labels remain in training, so the 3.42 pp offset still bleeds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Prior Feature Transfer — The Winning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C8"/>
                </a:solidFill>
              </a:rPr>
              <a:t>STAGE 1 — Pre-train on Literature Chemistry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5661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STAGE 2 — Fine-tune on Our Labels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286000" cy="914400"/>
          </a:xfrm>
          <a:prstGeom prst="rect">
            <a:avLst/>
          </a:prstGeom>
          <a:solidFill>
            <a:srgbClr val="CCE0FF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E42"/>
                </a:solidFill>
              </a:rPr>
              <a:t>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E42"/>
                </a:solidFill>
              </a:rPr>
              <a:t>3,852 samples
(DRST filtered)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011680.0"/>
            <a:ext cx="457200" cy="0.0"/>
          </a:xfrm>
          <a:prstGeom prst="line">
            <a:avLst/>
          </a:prstGeom>
          <a:ln w="31750">
            <a:solidFill>
              <a:srgbClr val="007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108960" y="1554480"/>
            <a:ext cx="2286000" cy="914400"/>
          </a:xfrm>
          <a:prstGeom prst="rect">
            <a:avLst/>
          </a:prstGeom>
          <a:solidFill>
            <a:srgbClr val="0078C8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627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XGBoost
pre-train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94960" y="2011680.0"/>
            <a:ext cx="457200" cy="0.0"/>
          </a:xfrm>
          <a:prstGeom prst="line">
            <a:avLst/>
          </a:prstGeom>
          <a:ln w="31750">
            <a:solidFill>
              <a:srgbClr val="007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852160" y="1554480"/>
            <a:ext cx="2286000" cy="914400"/>
          </a:xfrm>
          <a:prstGeom prst="rect">
            <a:avLst/>
          </a:prstGeom>
          <a:solidFill>
            <a:srgbClr val="F59E0B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627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lit_prior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011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prediction
(68th feature)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2286000" cy="914400"/>
          </a:xfrm>
          <a:prstGeom prst="rect">
            <a:avLst/>
          </a:prstGeom>
          <a:solidFill>
            <a:srgbClr val="CCE8D0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965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Our Lab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5E20"/>
                </a:solidFill>
              </a:rPr>
              <a:t>89,074 samples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51760" y="4480560.0"/>
            <a:ext cx="457200" cy="0.0"/>
          </a:xfrm>
          <a:prstGeom prst="line">
            <a:avLst/>
          </a:prstGeom>
          <a:ln w="317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108960" y="4023360"/>
            <a:ext cx="2286000" cy="914400"/>
          </a:xfrm>
          <a:prstGeom prst="rect">
            <a:avLst/>
          </a:prstGeom>
          <a:solidFill>
            <a:srgbClr val="E0E8F8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0965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E42"/>
                </a:solidFill>
              </a:rPr>
              <a:t>Append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F1E42"/>
                </a:solidFill>
              </a:rPr>
              <a:t>68th feature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94960" y="4480560.0"/>
            <a:ext cx="457200" cy="0.0"/>
          </a:xfrm>
          <a:prstGeom prst="line">
            <a:avLst/>
          </a:prstGeom>
          <a:ln w="317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852160" y="4023360"/>
            <a:ext cx="2286000" cy="914400"/>
          </a:xfrm>
          <a:prstGeom prst="rect">
            <a:avLst/>
          </a:prstGeom>
          <a:solidFill>
            <a:srgbClr val="10B981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0965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LightGBM
our labels only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38160" y="4480560.0"/>
            <a:ext cx="457200" cy="0.0"/>
          </a:xfrm>
          <a:prstGeom prst="line">
            <a:avLst/>
          </a:prstGeom>
          <a:ln w="317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595360" y="4023360"/>
            <a:ext cx="2286000" cy="914400"/>
          </a:xfrm>
          <a:prstGeom prst="rect">
            <a:avLst/>
          </a:prstGeom>
          <a:solidFill>
            <a:srgbClr val="0F1E42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0965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Y(C₂) %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4251960.0" y="2468880"/>
            <a:ext cx="2743200.0" cy="1554480"/>
          </a:xfrm>
          <a:prstGeom prst="line">
            <a:avLst/>
          </a:prstGeom>
          <a:ln w="317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65760" y="5166360"/>
            <a:ext cx="11430000" cy="1325880"/>
          </a:xfrm>
          <a:prstGeom prst="rect">
            <a:avLst/>
          </a:prstGeom>
          <a:solidFill>
            <a:srgbClr val="F5F6F8"/>
          </a:solidFill>
          <a:ln w="9525">
            <a:solidFill>
              <a:srgbClr val="0F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23036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E42"/>
                </a:solidFill>
              </a:rPr>
              <a:t>Key property — literature enters as a feature, not a label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59612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Stage 2 NEVER sees literature labels. The 3.42 pp offset affects the VALUE of the 68th feature — which Stage 2 can calibrate: "when the expert says 8, my lab gets ~4.5". It does NOT corrupt the training loss, which it could not fix. A corrupted label can't be un-corrupted; a feature value is just another thing to learn around. Stage 1 uses XGBoost (conservative on 782 rows); Stage 2 uses LightGBM (fast on 89,074 rows).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Results — All Five Methods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9 / 12</a:t>
            </a:r>
          </a:p>
        </p:txBody>
      </p:sp>
      <p:pic>
        <p:nvPicPr>
          <p:cNvPr id="7" name="Picture 6" descr="fig_walkthroug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949440" cy="3048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E42"/>
                </a:solidFill>
              </a:rPr>
              <a:t>Cross-validation (our 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600200"/>
            <a:ext cx="4572000" cy="36576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62763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627632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62763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965960"/>
            <a:ext cx="4572000" cy="365760"/>
          </a:xfrm>
          <a:prstGeom prst="rect">
            <a:avLst/>
          </a:prstGeom>
          <a:solidFill>
            <a:srgbClr val="FFEBEB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00253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1A1A"/>
                </a:solidFill>
              </a:rPr>
              <a:t>Naive 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00253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1A1A"/>
                </a:solidFill>
              </a:rPr>
              <a:t>2.248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200253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1A1A"/>
                </a:solidFill>
              </a:rPr>
              <a:t>+5.4%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31720"/>
            <a:ext cx="4572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3682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6829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2.133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236829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697480"/>
            <a:ext cx="457200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73405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KMM weighted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3405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2.035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27340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−4.6%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063240"/>
            <a:ext cx="4572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309981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DRST (τ=0.30)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09981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309981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−5.3%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429000"/>
            <a:ext cx="4572000" cy="365760"/>
          </a:xfrm>
          <a:prstGeom prst="rect">
            <a:avLst/>
          </a:prstGeom>
          <a:solidFill>
            <a:srgbClr val="E8F5E9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346557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Prior FT 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46557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1.907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46557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−10.6%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E42"/>
                </a:solidFill>
              </a:rPr>
              <a:t>OOD robustness (unseen lit)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526280"/>
            <a:ext cx="4572000" cy="36576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45537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455371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OOD RMSE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892040"/>
            <a:ext cx="4572000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93776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93776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6.53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5276088"/>
            <a:ext cx="4572000" cy="384048"/>
          </a:xfrm>
          <a:prstGeom prst="rect">
            <a:avLst/>
          </a:prstGeom>
          <a:solidFill>
            <a:srgbClr val="E8F5E9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532180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Prior FT  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532180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3.60  (−45%)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0596E"/>
                </a:solidFill>
              </a:rPr>
              <a:t>OOD: 2,139 non-Impregnation lit samples, unseen.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SHAP — Did the Model Learn Real Chemistry?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10 / 12</a:t>
            </a:r>
          </a:p>
        </p:txBody>
      </p:sp>
      <p:pic>
        <p:nvPicPr>
          <p:cNvPr id="7" name="Picture 6" descr="fig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217920" cy="585426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75120" y="1143000"/>
            <a:ext cx="5212080" cy="384048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1704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Top findings (3,000 sample subsample)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27632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#1: lit_prior_prediction — transfer is genuinely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Temperature — strong positive, T↑ → C₂↑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395728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Ba, Mn, La, Ce — known OCM active phases / promoters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79776"/>
            <a:ext cx="51206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 Li, K — mixed / suppressive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E42"/>
                </a:solidFill>
              </a:rPr>
              <a:t>Residual pattern (ceiling effect)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069080"/>
            <a:ext cx="5212080" cy="384048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409651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Y(C₂)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09651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453128"/>
            <a:ext cx="521208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448970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0 – 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48970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1.43 – 1.48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818888"/>
            <a:ext cx="52120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85546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6 –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85546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1.95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5184648"/>
            <a:ext cx="5212080" cy="36576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522122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10 – 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522122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550408"/>
            <a:ext cx="5212080" cy="365760"/>
          </a:xfrm>
          <a:prstGeom prst="rect">
            <a:avLst/>
          </a:prstGeom>
          <a:solidFill>
            <a:srgbClr val="FFEBEB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58698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</a:rPr>
              <a:t>&gt; 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58698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1A1A"/>
                </a:solidFill>
              </a:rPr>
              <a:t>4.70  (−4.2 pp bias)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897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96E"/>
                </a:solidFill>
              </a:rPr>
              <a:t>Root cause: GHSV, CH₄/O₂ ratio, pressure absent from dataset — a data limit, not a model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Critical Analysis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E42"/>
                </a:solidFill>
              </a:rPr>
              <a:t>Honest critique of each 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6400800" cy="36576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Main limitation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640080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11095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Naive 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911095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Negative control only — harms the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39"/>
            <a:ext cx="640080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14015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DRST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414015"/>
            <a:ext cx="4572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Hard cliff; discards ~80% of lit; τ tuned on the reported CV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90087"/>
            <a:ext cx="640080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26663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KMM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026663"/>
            <a:ext cx="4572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Slow n×n kernel; σ-sensitive; still uses labels; ties DRST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02735"/>
            <a:ext cx="6400800" cy="566928"/>
          </a:xfrm>
          <a:prstGeom prst="rect">
            <a:avLst/>
          </a:prstGeom>
          <a:solidFill>
            <a:srgbClr val="E8F5E9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3931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</a:rPr>
              <a:t>Prior 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39311"/>
            <a:ext cx="4572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5E20"/>
                </a:solidFill>
              </a:rPr>
              <a:t>Best — but Stage-1 on 782 rows → high variance; two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261103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E42"/>
                </a:solidFill>
              </a:rPr>
              <a:t>Cross-cutting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72583"/>
            <a:ext cx="6400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•  Scored on our-data CV only; OOD checked for Prior FT alone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983479"/>
            <a:ext cx="6400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•  Point predictions — no uncertainty for picking experiments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294375"/>
            <a:ext cx="6400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96E"/>
                </a:solidFill>
              </a:rPr>
              <a:t>•  Y&gt;15% ceiling is DATA-bound, not model-bound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1097280"/>
            <a:ext cx="48463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112471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What's next (priority-ordered)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1691640"/>
            <a:ext cx="4846320" cy="658368"/>
          </a:xfrm>
          <a:prstGeom prst="rect">
            <a:avLst/>
          </a:prstGeom>
          <a:solidFill>
            <a:srgbClr val="E8F5E9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1.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1737360"/>
            <a:ext cx="4206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5E20"/>
                </a:solidFill>
              </a:rPr>
              <a:t>Add GHSV, CH₄:O₂, pressure — fixes the ceiling and likely the label shift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43800" y="2093976"/>
            <a:ext cx="1554480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2112264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Highest impact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2423160"/>
            <a:ext cx="4846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24688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C8"/>
                </a:solidFill>
              </a:rP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246887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Bag the Stage-1 expert to cut its variance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999232"/>
            <a:ext cx="4846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304495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C8"/>
                </a:solidFill>
              </a:rP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044951"/>
            <a:ext cx="4206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Add uncertainty (quantile / conformal) for experiment selection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40880" y="3730752"/>
            <a:ext cx="4846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3776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C8"/>
                </a:solidFill>
              </a:rP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776472"/>
            <a:ext cx="4206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Stack DRST + KMM into the Prior FT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4462272"/>
            <a:ext cx="4846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45079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C8"/>
                </a:solidFill>
              </a:rP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4507992"/>
            <a:ext cx="4206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Neural domain adaptation (DANN / CORAL) once features are richer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0" y="5193792"/>
            <a:ext cx="48463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5239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C8"/>
                </a:solidFill>
              </a:rP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5239512"/>
            <a:ext cx="4206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Close the active-learning loop: propose → measure → retrain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F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28816"/>
            <a:ext cx="11823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OCM Dataset Integration   |   Slide 12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10332720" cy="4206240"/>
          </a:xfrm>
          <a:prstGeom prst="rect">
            <a:avLst/>
          </a:prstGeom>
          <a:solidFill>
            <a:srgbClr val="F5F6F8"/>
          </a:solidFill>
          <a:ln w="9525">
            <a:solidFill>
              <a:srgbClr val="0F1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173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E42"/>
                </a:solidFill>
              </a:rPr>
              <a:t>What we asked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830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96E"/>
                </a:solidFill>
              </a:rPr>
              <a:t>Can published OCM literature improve a lab-data model without harming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774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E42"/>
                </a:solidFill>
              </a:rPr>
              <a:t>What we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8892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Naive merging HARMS accuracy (+5.4% RMSE) — the systematic offset corrupts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468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Selective filtering (DRST / KMM) recovers about 5% improvement — independent methods agree (r=0.79).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04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Using literature as a PRIOR FEATURE (not a label) gives the biggest gain: −10.6% CV, −45% OOD.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8620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•  SHAP confirms the model uses real OCM chemistry: temperature, Ba, Mn, La, Ce, and the literature prior drive predictions.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solidFill>
            <a:srgbClr val="E8F5E9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696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Next step that matters most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Add GHSV and CH₄:O₂ to the feature set — the high-yield ceiling is data-bound, not model-bound.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