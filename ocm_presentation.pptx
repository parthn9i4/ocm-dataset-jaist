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(≤2019)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a systematic offset from publication bias and optimised conditions.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Label Shift &amp; Covariate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15</a:t>
            </a:r>
          </a:p>
        </p:txBody>
      </p:sp>
      <p:pic>
        <p:nvPicPr>
          <p:cNvPr id="8" name="Picture 7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4251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Two panels, two shifts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Left: yield KDE — blue peaks 3–4%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peaks 8–9% (3.42 pp gap)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systematic gap (t = −32.2)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right tail = publication-bias skew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Right: PCA of 67 features → 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101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outside blue = 78.5% OOD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3794760"/>
            <a:ext cx="3108960" cy="8229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386791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Both signals — yield level AND chemistry composition — warn against naive concatenation (confirmed 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Which Elements Differ?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15</a:t>
            </a:r>
          </a:p>
        </p:txBody>
      </p:sp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8765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Top 15 elements by usage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dominant elements each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&amp; promoters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Our lab: focused 2025 programme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Literature: 40 yrs, many groups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20440"/>
            <a:ext cx="3108960" cy="8229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359359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This is what '78.5% out-of-distribution' looks like in plain terms — literally different elements and preparation methods.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4805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Selective filtering methods keep only literature whose element profile resembles our experimental programme.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our data + any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our data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(our data, n=89,074)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(our data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 Mixing the two datasets can perform WORSE than using ours alone.
⇒ We need to be much more selective.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15</a:t>
            </a:r>
          </a:p>
        </p:txBody>
      </p:sp>
      <p:pic>
        <p:nvPicPr>
          <p:cNvPr id="8" name="Picture 7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315200" cy="2647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43000"/>
            <a:ext cx="4114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1704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6002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classifier: ours=1, lit=0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965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P(ours |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331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788920"/>
            <a:ext cx="411480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2862072"/>
            <a:ext cx="38953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P(ours | x) is a similarity score: high = looks like our chemistry, low = foreign. We keep only literature scoring above 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886200"/>
            <a:ext cx="4114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3913632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913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9136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25196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428853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288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428853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461772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465429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654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65429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983480"/>
            <a:ext cx="411480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502005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τ = 0.30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5020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782 kept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0200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2.019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534924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538581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385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5385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806440"/>
            <a:ext cx="4114800" cy="658368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82128" y="5879592"/>
            <a:ext cx="389534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15</a:t>
            </a:r>
          </a:p>
        </p:txBody>
      </p:sp>
      <p:pic>
        <p:nvPicPr>
          <p:cNvPr id="8" name="Picture 7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909560" cy="162140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143000"/>
            <a:ext cx="34747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1704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00200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47672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kernel: K(x,x′) = exp(−‖x−x′‖²/2σ²)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95144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642616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063240"/>
            <a:ext cx="34747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3136392"/>
            <a:ext cx="3255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KMM picks weights so the weighted literature cloud matches our data cloud. Samples inside our chemistry earn weight; those outside fade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307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416052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48056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45262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45262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84632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4892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4892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521208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525780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52578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5669280"/>
            <a:ext cx="34747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5742432"/>
            <a:ext cx="32552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 — literature enters as a feature, not a 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Stage 2 NEVER sees literature labels. The 3.42 pp offset affects the VALUE of the 68th feature — which Stage 2 can calibrate: "when the expert says 8, my lab gets ~4.5". It does NOT corrupt the training loss, which it could not fix. A corrupted label can't be un-corrupted; a feature value is just another thing to learn around. Stage 1 uses XGBoost (conservative on 782 rows); Stage 2 uses LightGBM (fast on 89,074 rows).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15</a:t>
            </a:r>
          </a:p>
        </p:txBody>
      </p:sp>
      <p:pic>
        <p:nvPicPr>
          <p:cNvPr id="8" name="Picture 7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589520" cy="3329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(our data)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0020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27632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62763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0253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0025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36829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3682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697480"/>
            <a:ext cx="38404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73405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weighted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7340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06324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09981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(τ=0.30)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099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−5.3%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429000"/>
            <a:ext cx="38404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46557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46557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14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robustness (unseen lit)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452628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455371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4553712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892040"/>
            <a:ext cx="38404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93776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937760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5276088"/>
            <a:ext cx="3840480" cy="384048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32180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5321808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3.60  (−45%)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OOD: 2,139 non-Impregnation lit samples, unseen.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Feature Importance Beeswarm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15</a:t>
            </a:r>
          </a:p>
        </p:txBody>
      </p:sp>
      <p:pic>
        <p:nvPicPr>
          <p:cNvPr id="8" name="Picture 7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686800" cy="8178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50596E"/>
                </a:solidFill>
              </a:rPr>
              <a:t>TreeExplainer on 3,000-sample subsample.  Each row = feature ranked by mean |SHAP|.  Colour = feature value (red=high);  x-position = prediction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097280"/>
            <a:ext cx="265176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12471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591056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 — transfer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93392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 ↑ → yield ↑ (correct OCM)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395728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Ce: net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798064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K: mixed / suppressive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3291840"/>
            <a:ext cx="2651760" cy="68580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5168" y="3364992"/>
            <a:ext cx="243230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The model uses real OCM chemistry — transfer learning is not dead weight.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See next slide for residual breakdown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Ceiling Effect &amp; Model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Residual breakdown by yield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3035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62763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84248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574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9736"/>
            <a:ext cx="53035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328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5328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35224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083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5303520" cy="475488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8386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83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023360"/>
            <a:ext cx="5303520" cy="7772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096512"/>
            <a:ext cx="50840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Root cause: GHSV, CH₄/O₂ ratio, pressure absent from the feature set — a data limit, not a model failure.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188720"/>
            <a:ext cx="57607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216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SHAP confirmed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691640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learning actively used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093976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Temperature: high T → yield up (correct OCM physics)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96312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active phases and promoters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2898648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(can over-reduce surface)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3730752"/>
            <a:ext cx="554126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The ceiling is NOT a modelling failure — it is a DATA failure.
Missing columns (GHSV, CH₄:O₂, pressure) explain why Y&gt;15% catalysts exist.
No algorithm can compensate for absent input features.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80060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Fix the data → the model automatically improves.  That is the single highest-impact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Critical Analysis — Per-Method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Honest critique of each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64208"/>
            <a:ext cx="6400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75688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Naive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75688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Negative control — makes the model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96896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6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42616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Hard cliff; discards ~80%; τ tuned on the reported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09544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KMM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09544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O(n²) kernel; σ-sensitive; labels still in loss; ties DRST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0752"/>
            <a:ext cx="6400800" cy="53035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2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</a:rPr>
              <a:t>Prior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76472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20"/>
                </a:solidFill>
              </a:rPr>
              <a:t>Best — Stage-1 on 782 rows → high variance; two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234440"/>
            <a:ext cx="48463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261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Cross-cutting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1907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All methods evaluated on our-data CV only; OOD tested for Prior FT 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1031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Point predictions — no uncertainty estimates to guide experiment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8716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Y&gt;15% ceiling is DATA-bound (missing GHSV, CH₄:O₂, pressure), not model-bound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063240"/>
            <a:ext cx="4846320" cy="86868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136392"/>
            <a:ext cx="462686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Key insight: the ceiling effect and much of the label shift share the same root cause — missing operating-condition features. Fix the data; the models follow.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What's Next — Priority-Ordered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Add GHSV, CH₄:O₂, pressure to the feature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Fixes the Y&gt;15% ceiling and likely resolves much of the label shift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356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Bag the Stage-1 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Ensemble of XGBoost models reduces high variance from only 782 training samples.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Add uncertainty quantification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Conformal prediction or quantile regression — flag low-confidence picks for the experiment loop.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32588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41732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Stack DRST + KMM inside Prior 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Run them as one integrated pipeline rather than three separate methods.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Neural domain adaptation (DANN, CORAL)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More powerful once the feature set is richer — currently under-powered.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Close the active-learning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Model proposes → lab measures → model retrains. Reduces label shift over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−45% 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