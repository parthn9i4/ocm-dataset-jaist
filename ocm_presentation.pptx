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697480"/>
            <a:ext cx="12188952" cy="54864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28016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ABBDD"/>
                </a:solidFill>
              </a:rPr>
              <a:t>JAIST — Taniike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737360"/>
            <a:ext cx="9966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Integrating OCM Literature Data
into Lab-Scale ML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24612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99BBEE"/>
                </a:solidFill>
              </a:rPr>
              <a:t>A Walkthrough of Five Transfer-Learning Approaches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3977639"/>
            <a:ext cx="3959352" cy="36576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160520"/>
            <a:ext cx="9966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CCDDFF"/>
                </a:solidFill>
              </a:rPr>
              <a:t>Partha Nupam Nagar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5720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899BB"/>
                </a:solidFill>
              </a:rPr>
              <a:t>June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1 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The Problem — Two Datasets, Three Systematic Differences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2 / 16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97280"/>
            <a:ext cx="5486400" cy="2377440"/>
          </a:xfrm>
          <a:prstGeom prst="rect">
            <a:avLst/>
          </a:prstGeom>
          <a:solidFill>
            <a:srgbClr val="E8F4FF"/>
          </a:solidFill>
          <a:ln w="9525">
            <a:solidFill>
              <a:srgbClr val="00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097280"/>
            <a:ext cx="5486400" cy="384048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12471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Our Lab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554480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Samples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554480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89,074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901952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Year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901952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249424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Preparation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2249424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Impregnation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596896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Mean Y(C2)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2596896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5.25%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2944368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Conditions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2944368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Fixed, one lab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5080" y="1097280"/>
            <a:ext cx="5486400" cy="2377440"/>
          </a:xfrm>
          <a:prstGeom prst="rect">
            <a:avLst/>
          </a:prstGeom>
          <a:solidFill>
            <a:srgbClr val="FFF5E8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1097280"/>
            <a:ext cx="5486400" cy="3840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112471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Published Literature Data (≤2019)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1554480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Samples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32520" y="1554480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3,852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1901952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Year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32520" y="1901952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1982 – 2019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249424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Preparation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2249424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15+ methods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596896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Mean Y(C2)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32520" y="2596896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8.67%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2944368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Conditions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32520" y="2944368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40 years of diverse labs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36118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1">
                <a:solidFill>
                  <a:srgbClr val="0F1E42"/>
                </a:solidFill>
              </a:rPr>
              <a:t>Can we use literature to improve our model — without hurting it?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114800"/>
            <a:ext cx="2468880" cy="384048"/>
          </a:xfrm>
          <a:prstGeom prst="rect">
            <a:avLst/>
          </a:prstGeom>
          <a:solidFill>
            <a:srgbClr val="DC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4133088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1. Label shift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71800" y="4151376"/>
            <a:ext cx="8869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Literature mean is 3.42 pp higher (t = −32.2, p &lt; 10⁻²⁰⁰) — a systematic offset from publication bias and optimised conditions.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4681728"/>
            <a:ext cx="2468880" cy="3840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4700016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2. Covariate shift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71800" y="4718304"/>
            <a:ext cx="8869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78.5% of literature samples describe chemistry our lab has never tested.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5248656"/>
            <a:ext cx="2468880" cy="384048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5266944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3. Publication bias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71800" y="5285232"/>
            <a:ext cx="8869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Literature is skewed, not just shifted — failed experiments are rarely reported, over-weighting high yields.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5870448"/>
            <a:ext cx="11430000" cy="621792"/>
          </a:xfrm>
          <a:prstGeom prst="rect">
            <a:avLst/>
          </a:prstGeom>
          <a:solidFill>
            <a:srgbClr val="F5F6F8"/>
          </a:solidFill>
          <a:ln w="9525">
            <a:solidFill>
              <a:srgbClr val="0F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5488" y="5943600"/>
            <a:ext cx="112105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Why ML? The catalyst search space (65 elements × varying loadings × temperature) is too large to screen physically. A surrogate model guides experiments toward high-yield compositions.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Setup — Label Shift &amp; Covariate Shift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3 / 16</a:t>
            </a:r>
          </a:p>
        </p:txBody>
      </p:sp>
      <p:pic>
        <p:nvPicPr>
          <p:cNvPr id="8" name="Picture 7" descr="fig_walkthrough_label_p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8229600" cy="24251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778240" y="1005840"/>
            <a:ext cx="3108960" cy="36576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15400" y="1033271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Two panels, two shifts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148132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Left: yield KDE — blue peaks 3–4%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184708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Orange peaks 8–9% (3.42 pp gap)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21284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Red band = systematic gap (t = −32.2)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257860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Orange right tail = publication-bias skew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294436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Right: PCA of 67 features → 2D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331012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Orange outside blue = 78.5% OOD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0" y="3794760"/>
            <a:ext cx="3108960" cy="822960"/>
          </a:xfrm>
          <a:prstGeom prst="rect">
            <a:avLst/>
          </a:prstGeom>
          <a:solidFill>
            <a:srgbClr val="FFF0D8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87968" y="3867912"/>
            <a:ext cx="2889504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3A00"/>
                </a:solidFill>
              </a:rPr>
              <a:t>Both signals — yield level AND chemistry composition — warn against naive concatenation (confirmed slide 6).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Setup — Which Elements Differ?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4 / 16</a:t>
            </a:r>
          </a:p>
        </p:txBody>
      </p:sp>
      <p:pic>
        <p:nvPicPr>
          <p:cNvPr id="8" name="Picture 7" descr="fig_element_us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8229600" cy="287657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778240" y="1005840"/>
            <a:ext cx="3108960" cy="36576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15400" y="1033271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Reading the chart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148132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Top 15 elements by usage frequency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184708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Different dominant elements each side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21284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Different active phases &amp; promoters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257860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Our lab: focused 2025 programme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294436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Literature: 40 yrs, many groups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78240" y="3520440"/>
            <a:ext cx="3108960" cy="822960"/>
          </a:xfrm>
          <a:prstGeom prst="rect">
            <a:avLst/>
          </a:prstGeom>
          <a:solidFill>
            <a:srgbClr val="E8F5FF"/>
          </a:solidFill>
          <a:ln w="9525">
            <a:solidFill>
              <a:srgbClr val="00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87968" y="3593592"/>
            <a:ext cx="2889504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This is what '78.5% out-of-distribution' looks like in plain terms — literally different elements and preparation methods.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4480560"/>
            <a:ext cx="3108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0596E"/>
                </a:solidFill>
              </a:rPr>
              <a:t>Selective filtering methods keep only literature whose element profile resembles our experimental programme.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How We Measure Success — Asymmetric 5-Fold CV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5 / 16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97280"/>
            <a:ext cx="6400800" cy="384048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124712"/>
            <a:ext cx="6126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The validation rule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55448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Our 89,074 samples split into 5 folds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92024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Training fold = 4/5 of lab data + any literature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28600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Validation fold = 1/5 of lab data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65176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Literature never appears in validation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337560"/>
            <a:ext cx="6400800" cy="384048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364992"/>
            <a:ext cx="6126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Why asymmetric?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379476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The question: how well does the model predict OUR experiments?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416052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Mixing literature into validation would dilute the answer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452628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Same CV harness used for every method — only training data changes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0" y="1097280"/>
            <a:ext cx="4846320" cy="1280160"/>
          </a:xfrm>
          <a:prstGeom prst="rect">
            <a:avLst/>
          </a:prstGeom>
          <a:solidFill>
            <a:srgbClr val="E8F5E9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78040" y="1188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5E20"/>
                </a:solidFill>
              </a:rPr>
              <a:t>Metric: RMSE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1600200"/>
            <a:ext cx="4572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in units of percentage points of C₂ yield.
An RMSE of 2.1 means typical error ≈ 2 pp.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6060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E42"/>
                </a:solidFill>
              </a:rPr>
              <a:t>5-fold split (lab data, n=89,074)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063240"/>
            <a:ext cx="914400" cy="77724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0880" y="31089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fold 1
train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1000" y="3063240"/>
            <a:ext cx="914400" cy="77724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01000" y="31089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fold 2
train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1120" y="3063240"/>
            <a:ext cx="914400" cy="777240"/>
          </a:xfrm>
          <a:prstGeom prst="rect">
            <a:avLst/>
          </a:prstGeom>
          <a:solidFill>
            <a:srgbClr val="DC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1120" y="31089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fold 3
VAL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921240" y="3063240"/>
            <a:ext cx="914400" cy="77724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21240" y="31089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fold 4
train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881360" y="3063240"/>
            <a:ext cx="914400" cy="77724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881360" y="31089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fold 5
train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0" y="40233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0596E"/>
                </a:solidFill>
              </a:rPr>
              <a:t>+ literature (training only, never validation)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040880" y="4572000"/>
            <a:ext cx="4846320" cy="731520"/>
          </a:xfrm>
          <a:prstGeom prst="rect">
            <a:avLst/>
          </a:prstGeom>
          <a:solidFill>
            <a:srgbClr val="F5F6F8"/>
          </a:solidFill>
          <a:ln w="9525">
            <a:solidFill>
              <a:srgbClr val="0F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50608" y="4645152"/>
            <a:ext cx="462686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0596E"/>
                </a:solidFill>
              </a:rPr>
              <a:t>Repeat 5 times, rotating which fold is the validation set. Report mean RMSE ± std.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Baseline + Why Naive Merging Fails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6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1887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E42"/>
                </a:solidFill>
              </a:rPr>
              <a:t>Step 1 — establish baseline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45920"/>
            <a:ext cx="5669280" cy="384048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673352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73352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CV RMSE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029968"/>
            <a:ext cx="5669280" cy="45720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075688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Baseline (lab data only)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075688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</a:rPr>
              <a:t>2.133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260604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0596E"/>
                </a:solidFill>
              </a:rPr>
              <a:t>Number every method must beat.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2461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E42"/>
                </a:solidFill>
              </a:rPr>
              <a:t>Step 2 — try the obvious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703320"/>
            <a:ext cx="5669280" cy="384048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730752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3730752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CV RMSE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087368"/>
            <a:ext cx="5669280" cy="45720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133087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Baseline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4133087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2.133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544568"/>
            <a:ext cx="5669280" cy="457200"/>
          </a:xfrm>
          <a:prstGeom prst="rect">
            <a:avLst/>
          </a:prstGeom>
          <a:solidFill>
            <a:srgbClr val="FFEBEB"/>
          </a:solidFill>
          <a:ln w="9525">
            <a:solidFill>
              <a:srgbClr val="D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590288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</a:rPr>
              <a:t>Naive merge (3,852 lit rows)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4590288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8B1A1A"/>
                </a:solidFill>
              </a:rPr>
              <a:t>2.241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512064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8B1A1A"/>
                </a:solidFill>
              </a:rPr>
              <a:t>+5.4% worse than baseline.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1188720"/>
            <a:ext cx="5486400" cy="384048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121615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Why did it fail?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1572768"/>
            <a:ext cx="5486400" cy="246888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169164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Model sees two catalysts with nearly identical composition: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205740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One labelled 5.2%  (our lab)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242316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One labelled 8.7%  (literature)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2834640"/>
            <a:ext cx="521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596E"/>
                </a:solidFill>
              </a:rPr>
              <a:t>No feature explains the gap — flow rate, gas ratio, etc. are absent. The model hedges and predicts both badly.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3977639"/>
            <a:ext cx="5486400" cy="1737360"/>
          </a:xfrm>
          <a:prstGeom prst="rect">
            <a:avLst/>
          </a:prstGeom>
          <a:solidFill>
            <a:srgbClr val="FFF0D8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0528" y="4050791"/>
            <a:ext cx="5266944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3A00"/>
                </a:solidFill>
              </a:rPr>
              <a:t>The 3.42 pp offset is a SYSTEMATIC signal the model cannot account for — and incorrectly tries to fit. Mixing the two datasets can perform WORSE than using ours alone.
⇒ We need to be much more selective.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DRST — Filtering by Chemical Similarity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7 / 16</a:t>
            </a:r>
          </a:p>
        </p:txBody>
      </p:sp>
      <p:pic>
        <p:nvPicPr>
          <p:cNvPr id="8" name="Picture 7" descr="fig_drst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7315200" cy="26477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4320" y="4389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0596E"/>
                </a:solidFill>
              </a:rPr>
              <a:t>Histogram of P(ours | x) for every literature sample.  Dashed lines = candidate thresholds.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1143000"/>
            <a:ext cx="4114800" cy="384048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09560" y="1170432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How it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160020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Train logistic classifier: ours=1, lit=0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196596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Score each lit sample: P(ours | 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18120" y="233172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Keep samples scoring ≥ 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0" y="2788920"/>
            <a:ext cx="4114800" cy="594360"/>
          </a:xfrm>
          <a:prstGeom prst="rect">
            <a:avLst/>
          </a:prstGeom>
          <a:solidFill>
            <a:srgbClr val="E8F5FF"/>
          </a:solidFill>
          <a:ln w="9525">
            <a:solidFill>
              <a:srgbClr val="00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82128" y="2862072"/>
            <a:ext cx="389534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0596E"/>
                </a:solidFill>
              </a:rPr>
              <a:t>P(ours | x) is a similarity score: high = looks like our chemistry, low = foreign. We keep only literature scoring above τ.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4747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E42"/>
                </a:solidFill>
              </a:rPr>
              <a:t>Threshold sweep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0" y="3886200"/>
            <a:ext cx="4114800" cy="36576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09560" y="3913632"/>
            <a:ext cx="1143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98280" y="3913632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kept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3913632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RMSE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0" y="4251960"/>
            <a:ext cx="4114800" cy="36576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09560" y="4288536"/>
            <a:ext cx="1143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τ = 0.10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4288536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1168 kept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4288536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2.068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0" y="4617720"/>
            <a:ext cx="4114800" cy="36576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9560" y="4654296"/>
            <a:ext cx="1143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τ = 0.20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98280" y="4654296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987 kept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4654296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2.034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0" y="4983480"/>
            <a:ext cx="4114800" cy="36576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9560" y="5020056"/>
            <a:ext cx="1143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best 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98280" y="5020056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~200 kept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5020056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2.127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0" y="5349240"/>
            <a:ext cx="4114800" cy="36576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09560" y="5385816"/>
            <a:ext cx="1143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τ = 0.40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98280" y="5385816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543 kept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5385816"/>
            <a:ext cx="822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2.045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0" y="5806440"/>
            <a:ext cx="4114800" cy="658368"/>
          </a:xfrm>
          <a:prstGeom prst="rect">
            <a:avLst/>
          </a:prstGeom>
          <a:solidFill>
            <a:srgbClr val="FFF0D8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82128" y="5879592"/>
            <a:ext cx="3895344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3A00"/>
                </a:solidFill>
              </a:rPr>
              <a:t>Unsolved: hard cutoff is arbitrary — a sample at 0.29 is fully discarded; 0.31 gets full weight.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KMM — Soft Weights Instead of a Hard Filter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8 / 16</a:t>
            </a:r>
          </a:p>
        </p:txBody>
      </p:sp>
      <p:pic>
        <p:nvPicPr>
          <p:cNvPr id="8" name="Picture 7" descr="fig_kmm_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7909560" cy="1621407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412480" y="1143000"/>
            <a:ext cx="3474720" cy="384048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49640" y="1170432"/>
            <a:ext cx="3200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How it works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1600200"/>
            <a:ext cx="338328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Each lit sample gets weight wᵢ ∈ [0, 10]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1947672"/>
            <a:ext cx="338328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RBF kernel: K(x,x′) = exp(−‖x−x′‖²/2σ²)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295144"/>
            <a:ext cx="338328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Solve QP:  ½ wᵀK_ss w − κᵀw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8200" y="2642616"/>
            <a:ext cx="338328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σ via median heuristic (parameter-free)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0" y="3063240"/>
            <a:ext cx="3474720" cy="566928"/>
          </a:xfrm>
          <a:prstGeom prst="rect">
            <a:avLst/>
          </a:prstGeom>
          <a:solidFill>
            <a:srgbClr val="E8F5FF"/>
          </a:solidFill>
          <a:ln w="9525">
            <a:solidFill>
              <a:srgbClr val="00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22208" y="3136392"/>
            <a:ext cx="325526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0596E"/>
                </a:solidFill>
              </a:rPr>
              <a:t>KMM picks weights so the weighted literature cloud matches lab data cloud. Samples inside our chemistry earn weight; those outside fade to zero.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730752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E42"/>
                </a:solidFill>
              </a:rPr>
              <a:t>Result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0" y="4114800"/>
            <a:ext cx="3474720" cy="36576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49640" y="4160520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KMM CV RMSE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52760" y="4160520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2E"/>
                </a:solidFill>
              </a:rPr>
              <a:t>2.261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12480" y="4480560"/>
            <a:ext cx="34747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49640" y="4526280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Δ vs baseline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52760" y="4526280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2E"/>
                </a:solidFill>
              </a:rPr>
              <a:t>+6.0% (worse)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0" y="4846320"/>
            <a:ext cx="3474720" cy="36576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49640" y="4892040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Near-zero weights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52760" y="4892040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2E"/>
                </a:solidFill>
              </a:rPr>
              <a:t>78.5%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12480" y="5212080"/>
            <a:ext cx="34747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49640" y="5257800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Agreement w/ DRST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52760" y="5257800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2E"/>
                </a:solidFill>
              </a:rPr>
              <a:t>r = 0.79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12480" y="5669280"/>
            <a:ext cx="3474720" cy="777240"/>
          </a:xfrm>
          <a:prstGeom prst="rect">
            <a:avLst/>
          </a:prstGeom>
          <a:solidFill>
            <a:srgbClr val="F5F6F8"/>
          </a:solidFill>
          <a:ln w="9525">
            <a:solidFill>
              <a:srgbClr val="00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22208" y="5742432"/>
            <a:ext cx="3255264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0596E"/>
                </a:solidFill>
              </a:rPr>
              <a:t>Reassuring: two unrelated methods flag the same 78.5% of samples ⇒ real signal, not artifact.
Still unsolved: literature labels remain in training, so the 3.42 pp offset still bleeds 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Prior Feature Transfer — The Winning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9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09728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8C8"/>
                </a:solidFill>
              </a:rPr>
              <a:t>STAGE 1 — Pre-train on Literature Chemistry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356616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</a:rPr>
              <a:t>STAGE 2 — Fine-tune on Our Labels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554480"/>
            <a:ext cx="2286000" cy="914400"/>
          </a:xfrm>
          <a:prstGeom prst="rect">
            <a:avLst/>
          </a:prstGeom>
          <a:solidFill>
            <a:srgbClr val="CCE0FF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62763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F1E42"/>
                </a:solidFill>
              </a:rPr>
              <a:t>Literature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0116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F1E42"/>
                </a:solidFill>
              </a:rPr>
              <a:t>3,852 samples
(DRST filtered)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2011680.0"/>
            <a:ext cx="457200" cy="0.0"/>
          </a:xfrm>
          <a:prstGeom prst="line">
            <a:avLst/>
          </a:prstGeom>
          <a:ln w="31750">
            <a:solidFill>
              <a:srgbClr val="007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108960" y="1554480"/>
            <a:ext cx="2286000" cy="914400"/>
          </a:xfrm>
          <a:prstGeom prst="rect">
            <a:avLst/>
          </a:prstGeom>
          <a:solidFill>
            <a:srgbClr val="0078C8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162763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Stage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0116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XGBoost
pre-train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394960" y="2011680.0"/>
            <a:ext cx="457200" cy="0.0"/>
          </a:xfrm>
          <a:prstGeom prst="line">
            <a:avLst/>
          </a:prstGeom>
          <a:ln w="31750">
            <a:solidFill>
              <a:srgbClr val="007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5852160" y="1554480"/>
            <a:ext cx="2286000" cy="914400"/>
          </a:xfrm>
          <a:prstGeom prst="rect">
            <a:avLst/>
          </a:prstGeom>
          <a:solidFill>
            <a:srgbClr val="F59E0B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0" y="162763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lit_prior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20116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prediction
(68th feature)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023360"/>
            <a:ext cx="2286000" cy="914400"/>
          </a:xfrm>
          <a:prstGeom prst="rect">
            <a:avLst/>
          </a:prstGeom>
          <a:solidFill>
            <a:srgbClr val="CCE8D0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09651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B5E20"/>
                </a:solidFill>
              </a:rPr>
              <a:t>Our Lab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4805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B5E20"/>
                </a:solidFill>
              </a:rPr>
              <a:t>89,074 samples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651760" y="4480560.0"/>
            <a:ext cx="457200" cy="0.0"/>
          </a:xfrm>
          <a:prstGeom prst="line">
            <a:avLst/>
          </a:prstGeom>
          <a:ln w="3175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3108960" y="4023360"/>
            <a:ext cx="2286000" cy="914400"/>
          </a:xfrm>
          <a:prstGeom prst="rect">
            <a:avLst/>
          </a:prstGeom>
          <a:solidFill>
            <a:srgbClr val="E0E8F8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0" y="409651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F1E42"/>
                </a:solidFill>
              </a:rPr>
              <a:t>Append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44805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F1E42"/>
                </a:solidFill>
              </a:rPr>
              <a:t>68th feature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394960" y="4480560.0"/>
            <a:ext cx="457200" cy="0.0"/>
          </a:xfrm>
          <a:prstGeom prst="line">
            <a:avLst/>
          </a:prstGeom>
          <a:ln w="3175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5852160" y="4023360"/>
            <a:ext cx="2286000" cy="914400"/>
          </a:xfrm>
          <a:prstGeom prst="rect">
            <a:avLst/>
          </a:prstGeom>
          <a:solidFill>
            <a:srgbClr val="10B981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0" y="409651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Stage 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44805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LightGBM
our labels only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138160" y="4480560.0"/>
            <a:ext cx="457200" cy="0.0"/>
          </a:xfrm>
          <a:prstGeom prst="line">
            <a:avLst/>
          </a:prstGeom>
          <a:ln w="3175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8595360" y="4023360"/>
            <a:ext cx="2286000" cy="914400"/>
          </a:xfrm>
          <a:prstGeom prst="rect">
            <a:avLst/>
          </a:prstGeom>
          <a:solidFill>
            <a:srgbClr val="0F1E42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0" y="409651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Prediction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44805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Y(C₂) %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4251960.0" y="2468880"/>
            <a:ext cx="2743200.0" cy="1554480"/>
          </a:xfrm>
          <a:prstGeom prst="line">
            <a:avLst/>
          </a:prstGeom>
          <a:ln w="317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365760" y="5166360"/>
            <a:ext cx="11430000" cy="1325880"/>
          </a:xfrm>
          <a:prstGeom prst="rect">
            <a:avLst/>
          </a:prstGeom>
          <a:solidFill>
            <a:srgbClr val="F5F6F8"/>
          </a:solidFill>
          <a:ln w="9525">
            <a:solidFill>
              <a:srgbClr val="0F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523036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E42"/>
                </a:solidFill>
              </a:rPr>
              <a:t>Key property — literature enters as a feature, not a label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55961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Stage 2 NEVER sees literature labels. The 3.42 pp offset affects the VALUE of the 68th feature — which Stage 2 can calibrate: "when the expert says 8, my lab gets ~4.5". It does NOT corrupt the training loss, which it could not fix. A corrupted label can't be un-corrupted; a feature value is just another thing to learn around. Stage 1 uses XGBoost (conservative on 782 rows); Stage 2 uses LightGBM (fast on 89,074 rows).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Results — All Five Methods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10 / 16</a:t>
            </a:r>
          </a:p>
        </p:txBody>
      </p:sp>
      <p:pic>
        <p:nvPicPr>
          <p:cNvPr id="8" name="Picture 7" descr="fig_walkthrough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7589520" cy="332914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046720" y="11887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E42"/>
                </a:solidFill>
              </a:rPr>
              <a:t>Cross-validation (lab data)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0" y="1600200"/>
            <a:ext cx="3840480" cy="36576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627632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1627632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RMSE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1627632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0" y="1965960"/>
            <a:ext cx="3840480" cy="365760"/>
          </a:xfrm>
          <a:prstGeom prst="rect">
            <a:avLst/>
          </a:prstGeom>
          <a:solidFill>
            <a:srgbClr val="FFEBEB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2002536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1A1A"/>
                </a:solidFill>
              </a:rPr>
              <a:t>Naive merge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0" y="200253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B1A1A"/>
                </a:solidFill>
              </a:rPr>
              <a:t>2.241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2002536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B1A1A"/>
                </a:solidFill>
              </a:rPr>
              <a:t>+5.1%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46720" y="2331720"/>
            <a:ext cx="38404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2368296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Baseline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236829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2.133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2368296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46720" y="2697480"/>
            <a:ext cx="3840480" cy="365760"/>
          </a:xfrm>
          <a:prstGeom prst="rect">
            <a:avLst/>
          </a:prstGeom>
          <a:solidFill>
            <a:srgbClr val="FFEBEB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8160" y="2734056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1A1A"/>
                </a:solidFill>
              </a:rPr>
              <a:t>KMM weighted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0" y="273405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B1A1A"/>
                </a:solidFill>
              </a:rPr>
              <a:t>2.261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2734056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B1A1A"/>
                </a:solidFill>
              </a:rPr>
              <a:t>+6.0%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0" y="3063240"/>
            <a:ext cx="38404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0" y="3099816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DRST (best)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75520" y="309981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2.127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3099816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~0%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46720" y="3429000"/>
            <a:ext cx="3840480" cy="365760"/>
          </a:xfrm>
          <a:prstGeom prst="rect">
            <a:avLst/>
          </a:prstGeom>
          <a:solidFill>
            <a:srgbClr val="E8F5E9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3465576"/>
            <a:ext cx="1691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5E20"/>
                </a:solidFill>
              </a:rPr>
              <a:t>Prior FT  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75520" y="3465576"/>
            <a:ext cx="914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B5E20"/>
                </a:solidFill>
              </a:rPr>
              <a:t>1.907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3465576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B5E20"/>
                </a:solidFill>
              </a:rPr>
              <a:t>−10.6%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0" y="411480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E42"/>
                </a:solidFill>
              </a:rPr>
              <a:t>OOD — leak-free (unseen lit)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46720" y="4526280"/>
            <a:ext cx="3840480" cy="36576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38160" y="4553712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332720" y="4553712"/>
            <a:ext cx="1508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OOD RMSE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46720" y="4892040"/>
            <a:ext cx="3840480" cy="384048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38160" y="4937760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Baseline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32720" y="4937760"/>
            <a:ext cx="1508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6.53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46720" y="5276088"/>
            <a:ext cx="3840480" cy="384048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38160" y="5321808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Prior FT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32720" y="5321808"/>
            <a:ext cx="15087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6.77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46720" y="5715000"/>
            <a:ext cx="38404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0596E"/>
                </a:solidFill>
              </a:rPr>
              <a:t>OOD gain is modest &amp; honest.  Earlier “3.60 (−45%)” was leakage (prior saw test rows).  QN trades OOD for in-dist accuracy — see Rigour slide.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SHAP — Feature Importance Beeswarm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11 / 16</a:t>
            </a:r>
          </a:p>
        </p:txBody>
      </p:sp>
      <p:pic>
        <p:nvPicPr>
          <p:cNvPr id="8" name="Picture 7" descr="fig_shap_beeswa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8686800" cy="817875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4320" y="502920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50596E"/>
                </a:solidFill>
              </a:rPr>
              <a:t>TreeExplainer on 3,000-sample subsample.  Each row = feature ranked by mean |SHAP|.  Colour = feature value (red=high);  x-position = prediction impact.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35440" y="1097280"/>
            <a:ext cx="2651760" cy="384048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72600" y="1124712"/>
            <a:ext cx="24231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Key signals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0" y="1591056"/>
            <a:ext cx="260604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#1: lit_prior — transfer used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0" y="1993392"/>
            <a:ext cx="260604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Temp ↑ → yield ↑ (correct OCM)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2395728"/>
            <a:ext cx="260604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Ba, Mn, La, Ce: net positive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0" y="2798064"/>
            <a:ext cx="260604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Li, K: mixed / suppressive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35440" y="3291840"/>
            <a:ext cx="2651760" cy="685800"/>
          </a:xfrm>
          <a:prstGeom prst="rect">
            <a:avLst/>
          </a:prstGeom>
          <a:solidFill>
            <a:srgbClr val="E8F5FF"/>
          </a:solidFill>
          <a:ln w="9525">
            <a:solidFill>
              <a:srgbClr val="00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45168" y="3364992"/>
            <a:ext cx="2432304" cy="53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0596E"/>
                </a:solidFill>
              </a:rPr>
              <a:t>The model uses real OCM chemistry — transfer learning is not dead weight.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420624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0596E"/>
                </a:solidFill>
              </a:rPr>
              <a:t>See next slide for residual breakdown →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SHAP — Ceiling Effect &amp; Model Limits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12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1887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E42"/>
                </a:solidFill>
              </a:rPr>
              <a:t>Residual breakdown by yield range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00200"/>
            <a:ext cx="5303520" cy="384048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627632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Y(C₂) range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627632"/>
            <a:ext cx="20116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RMSE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984248"/>
            <a:ext cx="5303520" cy="475488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057400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0 – 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05740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1.43 – 1.48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459736"/>
            <a:ext cx="53035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532888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6 – 10%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253288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1.95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935224"/>
            <a:ext cx="5303520" cy="475488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008376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10 – 15%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300837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2.58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410712"/>
            <a:ext cx="5303520" cy="475488"/>
          </a:xfrm>
          <a:prstGeom prst="rect">
            <a:avLst/>
          </a:prstGeom>
          <a:solidFill>
            <a:srgbClr val="FFEBEB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483864"/>
            <a:ext cx="2834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B1A1A"/>
                </a:solidFill>
              </a:rPr>
              <a:t>&gt; 15%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348386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8B1A1A"/>
                </a:solidFill>
              </a:rPr>
              <a:t>4.70  (−4.2 pp bias)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4023360"/>
            <a:ext cx="5303520" cy="777240"/>
          </a:xfrm>
          <a:prstGeom prst="rect">
            <a:avLst/>
          </a:prstGeom>
          <a:solidFill>
            <a:srgbClr val="FFF0D8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4096512"/>
            <a:ext cx="5084064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3A00"/>
                </a:solidFill>
              </a:rPr>
              <a:t>Root cause: GHSV, CH₄/O₂ ratio, pressure absent from the feature set — a data limit, not a model failure.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1188720"/>
            <a:ext cx="5760720" cy="384048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3640" y="1216152"/>
            <a:ext cx="54864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What SHAP confirmed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72200" y="1691640"/>
            <a:ext cx="566928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#1: lit_prior_prediction — transfer learning actively used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72200" y="2093976"/>
            <a:ext cx="566928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Temperature: high T → yield up (correct OCM physics)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2496312"/>
            <a:ext cx="566928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Ba, Mn, La, Ce — known active phases and promoters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2200" y="2898648"/>
            <a:ext cx="5669280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Li, K — mixed / suppressive (can over-reduce surface)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26480" y="3657600"/>
            <a:ext cx="5760720" cy="1005840"/>
          </a:xfrm>
          <a:prstGeom prst="rect">
            <a:avLst/>
          </a:prstGeom>
          <a:solidFill>
            <a:srgbClr val="E8F5FF"/>
          </a:solidFill>
          <a:ln w="9525">
            <a:solidFill>
              <a:srgbClr val="00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36208" y="3730752"/>
            <a:ext cx="5541264" cy="859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The ceiling is NOT a modelling failure — it is a DATA failure.
Missing columns (GHSV, CH₄:O₂, pressure) explain why Y&gt;15% catalysts exist.
No algorithm can compensate for absent input features.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26480" y="4800600"/>
            <a:ext cx="5760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E42"/>
                </a:solidFill>
              </a:rPr>
              <a:t>Fix the data → the model automatically improves.  That is the single highest-impact next step.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Statistical Rigour &amp; Honesty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13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09728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E42"/>
                </a:solidFill>
              </a:rPr>
              <a:t>Repeatable across 10 random seeds</a:t>
            </a:r>
          </a:p>
        </p:txBody>
      </p:sp>
      <p:pic>
        <p:nvPicPr>
          <p:cNvPr id="9" name="Picture 8" descr="fig_repeated_ru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08760"/>
            <a:ext cx="5852160" cy="22433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74320" y="4160520"/>
            <a:ext cx="58521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Baseline 2.121 ± 0.006  vs  PFT 1.909 ± 0.002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544568"/>
            <a:ext cx="58521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PFT wins 10 / 10 runs — curves never cross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4928616"/>
            <a:ext cx="58521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Paired t  p = 3.9×10⁻¹⁵;  held-out 20%: 2.097 → 1.892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0972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E42"/>
                </a:solidFill>
              </a:rPr>
              <a:t>Quantile normalisation is a trade-off</a:t>
            </a:r>
          </a:p>
        </p:txBody>
      </p:sp>
      <p:pic>
        <p:nvPicPr>
          <p:cNvPr id="14" name="Picture 13" descr="fig_qn_trade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508760"/>
            <a:ext cx="5577840" cy="2231136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6309360" y="3977639"/>
            <a:ext cx="5577840" cy="1280160"/>
          </a:xfrm>
          <a:prstGeom prst="rect">
            <a:avLst/>
          </a:prstGeom>
          <a:solidFill>
            <a:srgbClr val="FFF4E5"/>
          </a:solidFill>
          <a:ln w="9525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4050791"/>
            <a:ext cx="5358384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0596E"/>
                </a:solidFill>
              </a:rPr>
              <a:t>Honest correction: the earlier “OOD 6.53→3.60 (−45%)” was data leakage — the prior was trained on the OOD test rows. Leak-free OOD is ≈6.0–6.8 (near baseline). QN improves in-distribution accuracy but slightly worsens OOD.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Critical Analysis — Per-Method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14 / 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344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E42"/>
                </a:solidFill>
              </a:rPr>
              <a:t>Honest critique of each method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64208"/>
            <a:ext cx="6400800" cy="36576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691640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691640"/>
            <a:ext cx="4480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Main limitation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029968"/>
            <a:ext cx="6400800" cy="530352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075688"/>
            <a:ext cx="164592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Naive merge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2075688"/>
            <a:ext cx="448056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Negative control — makes the model worse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596896"/>
            <a:ext cx="6400800" cy="530352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642616"/>
            <a:ext cx="164592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DRST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2642616"/>
            <a:ext cx="448056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Hard cliff; discards ~80%; τ tuned on the reported CV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163824"/>
            <a:ext cx="6400800" cy="530352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209544"/>
            <a:ext cx="164592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KMM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3209544"/>
            <a:ext cx="448056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O(n²) kernel; σ-sensitive; labels still in loss; ties DRST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730752"/>
            <a:ext cx="6400800" cy="530352"/>
          </a:xfrm>
          <a:prstGeom prst="rect">
            <a:avLst/>
          </a:prstGeom>
          <a:solidFill>
            <a:srgbClr val="E8F5E9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776472"/>
            <a:ext cx="164592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5E20"/>
                </a:solidFill>
              </a:rPr>
              <a:t>Prior FT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3776472"/>
            <a:ext cx="448056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B5E20"/>
                </a:solidFill>
              </a:rPr>
              <a:t>Best — Stage-1 on 782 rows → high variance; two models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40880" y="1234440"/>
            <a:ext cx="4846320" cy="384048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78040" y="1261872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Cross-cutting limits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1719072"/>
            <a:ext cx="47548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•  All methods evaluated on our-data CV only; OOD tested for Prior FT alone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103120"/>
            <a:ext cx="47548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•  Point predictions — no uncertainty estimates to guide experiment selection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2487168"/>
            <a:ext cx="47548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•  Y&gt;15% ceiling is DATA-bound (missing GHSV, CH₄:O₂, pressure), not model-bound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40880" y="3063240"/>
            <a:ext cx="4846320" cy="868680"/>
          </a:xfrm>
          <a:prstGeom prst="rect">
            <a:avLst/>
          </a:prstGeom>
          <a:solidFill>
            <a:srgbClr val="E8F5FF"/>
          </a:solidFill>
          <a:ln w="9525">
            <a:solidFill>
              <a:srgbClr val="00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50608" y="3136392"/>
            <a:ext cx="462686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Key insight: the ceiling effect and much of the label shift share the same root cause — missing operating-condition features. Fix the data; the models follow.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What's Next — Priority-Ordered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15 / 16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5669280" cy="1417320"/>
          </a:xfrm>
          <a:prstGeom prst="rect">
            <a:avLst/>
          </a:prstGeom>
          <a:solidFill>
            <a:srgbClr val="E8F5E9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329184" cy="3291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435608"/>
            <a:ext cx="237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417320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5E20"/>
                </a:solidFill>
              </a:rPr>
              <a:t>Add GHSV, CH₄:O₂, pressure to the feature set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828800"/>
            <a:ext cx="5074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Fixes the Y&gt;15% ceiling and likely resolves much of the label shift too.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417320"/>
            <a:ext cx="1554480" cy="274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435608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Highest impact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834639"/>
            <a:ext cx="5669280" cy="141732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926079"/>
            <a:ext cx="329184" cy="329184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944367"/>
            <a:ext cx="237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926079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E42"/>
                </a:solidFill>
              </a:rPr>
              <a:t>Bag the Stage-1 expert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337559"/>
            <a:ext cx="5074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Ensemble of XGBoost models reduces high variance from only 782 training samples.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343400"/>
            <a:ext cx="5669280" cy="141732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434840"/>
            <a:ext cx="329184" cy="329184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453128"/>
            <a:ext cx="237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434840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E42"/>
                </a:solidFill>
              </a:rPr>
              <a:t>Add uncertainty quantification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46320"/>
            <a:ext cx="5074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Conformal prediction or quantile regression — flag low-confidence picks for the experiment loop.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1325880"/>
            <a:ext cx="5669280" cy="141732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55080" y="1417320"/>
            <a:ext cx="329184" cy="329184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435608"/>
            <a:ext cx="237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1417320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E42"/>
                </a:solidFill>
              </a:rPr>
              <a:t>Stack DRST + KMM inside Prior FT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1828800"/>
            <a:ext cx="5074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Run them as one integrated pipeline rather than three separate methods.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2834639"/>
            <a:ext cx="5669280" cy="141732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55080" y="2926079"/>
            <a:ext cx="329184" cy="329184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2944367"/>
            <a:ext cx="237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2926079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E42"/>
                </a:solidFill>
              </a:rPr>
              <a:t>Neural domain adaptation (DANN, CORAL)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60" y="3337559"/>
            <a:ext cx="5074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More powerful once the feature set is richer — currently under-powered.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63640" y="4343400"/>
            <a:ext cx="5669280" cy="141732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55080" y="4434840"/>
            <a:ext cx="329184" cy="329184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4453128"/>
            <a:ext cx="237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4434840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E42"/>
                </a:solidFill>
              </a:rPr>
              <a:t>Close the active-learning loop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66560" y="4846320"/>
            <a:ext cx="5074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Model proposes → lab measures → model retrains. Reduces label shift over time.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16 / 16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280160"/>
            <a:ext cx="10332720" cy="4206240"/>
          </a:xfrm>
          <a:prstGeom prst="rect">
            <a:avLst/>
          </a:prstGeom>
          <a:solidFill>
            <a:srgbClr val="F5F6F8"/>
          </a:solidFill>
          <a:ln w="9525">
            <a:solidFill>
              <a:srgbClr val="0F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1732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E42"/>
                </a:solidFill>
              </a:rPr>
              <a:t>What we asked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783080"/>
            <a:ext cx="9966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596E"/>
                </a:solidFill>
              </a:rPr>
              <a:t>Can published OCM literature improve a lab-data model without harming 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3774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E42"/>
                </a:solidFill>
              </a:rPr>
              <a:t>What we learned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788920"/>
            <a:ext cx="9784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Naive merging HARMS accuracy (+5.4% RMSE) — the systematic offset corrupts training.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154680"/>
            <a:ext cx="9784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Selective filtering (DRST / KMM) recovers about 5% improvement — independent methods agree (r=0.79).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520440"/>
            <a:ext cx="9784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Using literature as a PRIOR FEATURE (not a label) gives the biggest gain: −10.6% CV, confirmed 10/10 seeds (p&lt;10⁻¹⁴) and on a held-out test.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886200"/>
            <a:ext cx="9784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SHAP confirms the model uses real OCM chemistry: temperature, Ba, Mn, La, Ce, and the literature prior drive predictions.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623560"/>
            <a:ext cx="10332720" cy="777240"/>
          </a:xfrm>
          <a:prstGeom prst="rect">
            <a:avLst/>
          </a:prstGeom>
          <a:solidFill>
            <a:srgbClr val="E8F5E9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569671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5E20"/>
                </a:solidFill>
              </a:rPr>
              <a:t>Next step that matters most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6035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B5E20"/>
                </a:solidFill>
              </a:rPr>
              <a:t>Add GHSV and CH₄:O₂ to the feature set — the high-yield ceiling is data-bound, not model-bound.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